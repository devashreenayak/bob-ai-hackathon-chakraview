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774936" y="996696"/>
            <a:ext cx="1005840" cy="457200"/>
          </a:xfrm>
          <a:prstGeom prst="line">
            <a:avLst/>
          </a:prstGeom>
          <a:noFill/>
          <a:ln w="17780">
            <a:solidFill>
              <a:srgbClr val="39447A"/>
            </a:solidFill>
            <a:prstDash val="solid"/>
          </a:ln>
        </p:spPr>
      </p:sp>
      <p:sp>
        <p:nvSpPr>
          <p:cNvPr id="3" name="Shape 1"/>
          <p:cNvSpPr/>
          <p:nvPr/>
        </p:nvSpPr>
        <p:spPr>
          <a:xfrm flipH="1">
            <a:off x="9500616" y="996696"/>
            <a:ext cx="274320" cy="1097280"/>
          </a:xfrm>
          <a:prstGeom prst="line">
            <a:avLst/>
          </a:prstGeom>
          <a:noFill/>
          <a:ln w="17780">
            <a:solidFill>
              <a:srgbClr val="39447A"/>
            </a:solidFill>
            <a:prstDash val="solid"/>
          </a:ln>
        </p:spPr>
      </p:sp>
      <p:sp>
        <p:nvSpPr>
          <p:cNvPr id="4" name="Shape 2"/>
          <p:cNvSpPr/>
          <p:nvPr/>
        </p:nvSpPr>
        <p:spPr>
          <a:xfrm>
            <a:off x="10780776" y="1453896"/>
            <a:ext cx="182880" cy="1005840"/>
          </a:xfrm>
          <a:prstGeom prst="line">
            <a:avLst/>
          </a:prstGeom>
          <a:noFill/>
          <a:ln w="17780">
            <a:solidFill>
              <a:srgbClr val="39447A"/>
            </a:solidFill>
            <a:prstDash val="solid"/>
          </a:ln>
        </p:spPr>
      </p:sp>
      <p:sp>
        <p:nvSpPr>
          <p:cNvPr id="5" name="Shape 3"/>
          <p:cNvSpPr/>
          <p:nvPr/>
        </p:nvSpPr>
        <p:spPr>
          <a:xfrm>
            <a:off x="9500616" y="2093976"/>
            <a:ext cx="548640" cy="914400"/>
          </a:xfrm>
          <a:prstGeom prst="line">
            <a:avLst/>
          </a:prstGeom>
          <a:noFill/>
          <a:ln w="17780">
            <a:solidFill>
              <a:srgbClr val="39447A"/>
            </a:solidFill>
            <a:prstDash val="solid"/>
          </a:ln>
        </p:spPr>
      </p:sp>
      <p:sp>
        <p:nvSpPr>
          <p:cNvPr id="6" name="Shape 4"/>
          <p:cNvSpPr/>
          <p:nvPr/>
        </p:nvSpPr>
        <p:spPr>
          <a:xfrm flipH="1">
            <a:off x="10049256" y="1453896"/>
            <a:ext cx="731520" cy="1554480"/>
          </a:xfrm>
          <a:prstGeom prst="line">
            <a:avLst/>
          </a:prstGeom>
          <a:noFill/>
          <a:ln w="17780">
            <a:solidFill>
              <a:srgbClr val="39447A"/>
            </a:solidFill>
            <a:prstDash val="solid"/>
          </a:ln>
        </p:spPr>
      </p:sp>
      <p:sp>
        <p:nvSpPr>
          <p:cNvPr id="7" name="Shape 5"/>
          <p:cNvSpPr/>
          <p:nvPr/>
        </p:nvSpPr>
        <p:spPr>
          <a:xfrm>
            <a:off x="9692640" y="914400"/>
            <a:ext cx="164592" cy="164592"/>
          </a:xfrm>
          <a:prstGeom prst="ellipse">
            <a:avLst/>
          </a:prstGeom>
          <a:solidFill>
            <a:srgbClr val="CADCFC"/>
          </a:solidFill>
          <a:ln w="12700">
            <a:solidFill>
              <a:srgbClr val="CADCFC"/>
            </a:solidFill>
            <a:prstDash val="solid"/>
          </a:ln>
        </p:spPr>
      </p:sp>
      <p:sp>
        <p:nvSpPr>
          <p:cNvPr id="8" name="Shape 6"/>
          <p:cNvSpPr/>
          <p:nvPr/>
        </p:nvSpPr>
        <p:spPr>
          <a:xfrm>
            <a:off x="10698480" y="1371600"/>
            <a:ext cx="164592" cy="164592"/>
          </a:xfrm>
          <a:prstGeom prst="ellipse">
            <a:avLst/>
          </a:prstGeom>
          <a:solidFill>
            <a:srgbClr val="CADCFC"/>
          </a:solidFill>
          <a:ln w="12700">
            <a:solidFill>
              <a:srgbClr val="CADCFC"/>
            </a:solidFill>
            <a:prstDash val="solid"/>
          </a:ln>
        </p:spPr>
      </p:sp>
      <p:sp>
        <p:nvSpPr>
          <p:cNvPr id="9" name="Shape 7"/>
          <p:cNvSpPr/>
          <p:nvPr/>
        </p:nvSpPr>
        <p:spPr>
          <a:xfrm>
            <a:off x="9418320" y="2011680"/>
            <a:ext cx="164592" cy="164592"/>
          </a:xfrm>
          <a:prstGeom prst="ellipse">
            <a:avLst/>
          </a:prstGeom>
          <a:solidFill>
            <a:srgbClr val="CADCFC"/>
          </a:solidFill>
          <a:ln w="12700">
            <a:solidFill>
              <a:srgbClr val="CADCFC"/>
            </a:solidFill>
            <a:prstDash val="solid"/>
          </a:ln>
        </p:spPr>
      </p:sp>
      <p:sp>
        <p:nvSpPr>
          <p:cNvPr id="10" name="Shape 8"/>
          <p:cNvSpPr/>
          <p:nvPr/>
        </p:nvSpPr>
        <p:spPr>
          <a:xfrm>
            <a:off x="10881360" y="2377440"/>
            <a:ext cx="164592" cy="164592"/>
          </a:xfrm>
          <a:prstGeom prst="ellipse">
            <a:avLst/>
          </a:prstGeom>
          <a:solidFill>
            <a:srgbClr val="CADCFC"/>
          </a:solidFill>
          <a:ln w="12700">
            <a:solidFill>
              <a:srgbClr val="CADCFC"/>
            </a:solidFill>
            <a:prstDash val="solid"/>
          </a:ln>
        </p:spPr>
      </p:sp>
      <p:sp>
        <p:nvSpPr>
          <p:cNvPr id="11" name="Shape 9"/>
          <p:cNvSpPr/>
          <p:nvPr/>
        </p:nvSpPr>
        <p:spPr>
          <a:xfrm>
            <a:off x="9966960" y="2926080"/>
            <a:ext cx="164592" cy="164592"/>
          </a:xfrm>
          <a:prstGeom prst="ellipse">
            <a:avLst/>
          </a:prstGeom>
          <a:solidFill>
            <a:srgbClr val="E4572E"/>
          </a:solidFill>
          <a:ln w="12700">
            <a:solidFill>
              <a:srgbClr val="E4572E"/>
            </a:solidFill>
            <a:prstDash val="solid"/>
          </a:ln>
        </p:spPr>
      </p:sp>
      <p:sp>
        <p:nvSpPr>
          <p:cNvPr id="12" name="Text 10"/>
          <p:cNvSpPr txBox="1"/>
          <p:nvPr/>
        </p:nvSpPr>
        <p:spPr>
          <a:xfrm>
            <a:off x="640080" y="2148840"/>
            <a:ext cx="7315200" cy="36576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TRACK: AI  •  IBM x NFSU HACKATHON</a:t>
            </a:r>
            <a:endParaRPr lang="en-US" sz="1300" dirty="0"/>
          </a:p>
        </p:txBody>
      </p:sp>
      <p:sp>
        <p:nvSpPr>
          <p:cNvPr id="13" name="Text 11"/>
          <p:cNvSpPr txBox="1"/>
          <p:nvPr/>
        </p:nvSpPr>
        <p:spPr>
          <a:xfrm>
            <a:off x="594360" y="2514600"/>
            <a:ext cx="86868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ChakraView</a:t>
            </a:r>
            <a:endParaRPr lang="en-US" sz="6000" dirty="0"/>
          </a:p>
        </p:txBody>
      </p:sp>
      <p:sp>
        <p:nvSpPr>
          <p:cNvPr id="14" name="Text 12"/>
          <p:cNvSpPr txBox="1"/>
          <p:nvPr/>
        </p:nvSpPr>
        <p:spPr>
          <a:xfrm>
            <a:off x="640080" y="3520440"/>
            <a:ext cx="82296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Cyber Fraud Network Analyzer</a:t>
            </a:r>
            <a:endParaRPr lang="en-US" sz="2200" dirty="0"/>
          </a:p>
        </p:txBody>
      </p:sp>
      <p:sp>
        <p:nvSpPr>
          <p:cNvPr id="15" name="Shape 13"/>
          <p:cNvSpPr/>
          <p:nvPr/>
        </p:nvSpPr>
        <p:spPr>
          <a:xfrm>
            <a:off x="640080" y="4297680"/>
            <a:ext cx="2926080" cy="0"/>
          </a:xfrm>
          <a:prstGeom prst="line">
            <a:avLst/>
          </a:prstGeom>
          <a:noFill/>
          <a:ln w="19050">
            <a:solidFill>
              <a:srgbClr val="39447A"/>
            </a:solidFill>
            <a:prstDash val="solid"/>
          </a:ln>
        </p:spPr>
      </p:sp>
      <p:sp>
        <p:nvSpPr>
          <p:cNvPr id="16" name="Text 14"/>
          <p:cNvSpPr txBox="1"/>
          <p:nvPr/>
        </p:nvSpPr>
        <p:spPr>
          <a:xfrm>
            <a:off x="640080" y="4526280"/>
            <a:ext cx="8229600" cy="1005840"/>
          </a:xfrm>
          <a:prstGeom prst="rect">
            <a:avLst/>
          </a:prstGeom>
          <a:noFill/>
          <a:ln/>
        </p:spPr>
        <p:txBody>
          <a:bodyPr wrap="square" lIns="0" tIns="0" rIns="0" bIns="0" rtlCol="0" anchor="ctr"/>
          <a:lstStyle/>
          <a:p>
            <a:pPr indent="0" marL="0">
              <a:lnSpc>
                <a:spcPts val="2000"/>
              </a:lnSpc>
              <a:buNone/>
            </a:pPr>
            <a:r>
              <a:rPr lang="en-US" sz="1400" b="1" dirty="0">
                <a:solidFill>
                  <a:srgbClr val="FFFFFF"/>
                </a:solidFill>
                <a:latin typeface="Calibri" pitchFamily="34" charset="0"/>
                <a:ea typeface="Calibri" pitchFamily="34" charset="-122"/>
                <a:cs typeface="Calibri" pitchFamily="34" charset="-120"/>
              </a:rPr>
              <a:t>Devashree Nayak</a:t>
            </a:r>
            <a:endParaRPr lang="en-US" sz="1400" dirty="0"/>
          </a:p>
          <a:p>
            <a:pPr indent="0" marL="0">
              <a:lnSpc>
                <a:spcPts val="2000"/>
              </a:lnSpc>
              <a:buNone/>
            </a:pPr>
            <a:r>
              <a:rPr lang="en-US" sz="1400" dirty="0">
                <a:solidFill>
                  <a:srgbClr val="AEB8DC"/>
                </a:solidFill>
                <a:latin typeface="Calibri" pitchFamily="34" charset="0"/>
                <a:ea typeface="Calibri" pitchFamily="34" charset="-122"/>
                <a:cs typeface="Calibri" pitchFamily="34" charset="-120"/>
              </a:rPr>
              <a:t>M.Sc. Cyber Security, Semester 3, National Forensic Sciences University, Gandhinagar</a:t>
            </a:r>
            <a:endParaRPr lang="en-US" sz="1400" dirty="0"/>
          </a:p>
          <a:p>
            <a:pPr indent="0" marL="0">
              <a:lnSpc>
                <a:spcPts val="2000"/>
              </a:lnSpc>
              <a:buNone/>
            </a:pPr>
            <a:r>
              <a:rPr lang="en-US" sz="1400" dirty="0">
                <a:solidFill>
                  <a:srgbClr val="AEB8DC"/>
                </a:solidFill>
                <a:latin typeface="Calibri" pitchFamily="34" charset="0"/>
                <a:ea typeface="Calibri" pitchFamily="34" charset="-122"/>
                <a:cs typeface="Calibri" pitchFamily="34" charset="-120"/>
              </a:rPr>
              <a:t>Solo Participant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algn="l" indent="0" marL="0">
              <a:buNone/>
            </a:pPr>
            <a:r>
              <a:rPr lang="en-US" sz="1300" b="1" spc="200" kern="0" dirty="0">
                <a:solidFill>
                  <a:srgbClr val="E4572E"/>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713232"/>
            <a:ext cx="10607040" cy="82296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Fraud networks move fast. Investigations don't.</a:t>
            </a:r>
            <a:endParaRPr lang="en-US" sz="3400" dirty="0"/>
          </a:p>
        </p:txBody>
      </p:sp>
      <p:sp>
        <p:nvSpPr>
          <p:cNvPr id="4" name="Shape 2"/>
          <p:cNvSpPr/>
          <p:nvPr/>
        </p:nvSpPr>
        <p:spPr>
          <a:xfrm>
            <a:off x="548640" y="1783080"/>
            <a:ext cx="3383280" cy="1920240"/>
          </a:xfrm>
          <a:prstGeom prst="roundRect">
            <a:avLst>
              <a:gd name="adj" fmla="val 3810"/>
            </a:avLst>
          </a:prstGeom>
          <a:solidFill>
            <a:srgbClr val="F4F6FB"/>
          </a:solidFill>
          <a:ln w="12700">
            <a:solidFill>
              <a:srgbClr val="D8DEEA"/>
            </a:solidFill>
            <a:prstDash val="solid"/>
          </a:ln>
        </p:spPr>
      </p:sp>
      <p:sp>
        <p:nvSpPr>
          <p:cNvPr id="5" name="Text 3"/>
          <p:cNvSpPr txBox="1"/>
          <p:nvPr/>
        </p:nvSpPr>
        <p:spPr>
          <a:xfrm>
            <a:off x="777240" y="1920240"/>
            <a:ext cx="2926080" cy="822960"/>
          </a:xfrm>
          <a:prstGeom prst="rect">
            <a:avLst/>
          </a:prstGeom>
          <a:noFill/>
          <a:ln/>
        </p:spPr>
        <p:txBody>
          <a:bodyPr wrap="square" lIns="0" tIns="0" rIns="0" bIns="0"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95,000+</a:t>
            </a:r>
            <a:endParaRPr lang="en-US" sz="4400" dirty="0"/>
          </a:p>
        </p:txBody>
      </p:sp>
      <p:sp>
        <p:nvSpPr>
          <p:cNvPr id="6" name="Text 4"/>
          <p:cNvSpPr txBox="1"/>
          <p:nvPr/>
        </p:nvSpPr>
        <p:spPr>
          <a:xfrm>
            <a:off x="777240" y="2697480"/>
            <a:ext cx="2926080" cy="9144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UPI fraud cases tied to organized rings such as the Jamtara SIM-swap network in FY2023 alone</a:t>
            </a:r>
            <a:endParaRPr lang="en-US" sz="1250" dirty="0"/>
          </a:p>
        </p:txBody>
      </p:sp>
      <p:sp>
        <p:nvSpPr>
          <p:cNvPr id="7" name="Shape 5"/>
          <p:cNvSpPr/>
          <p:nvPr/>
        </p:nvSpPr>
        <p:spPr>
          <a:xfrm>
            <a:off x="548640" y="3886200"/>
            <a:ext cx="3383280" cy="1874520"/>
          </a:xfrm>
          <a:prstGeom prst="roundRect">
            <a:avLst>
              <a:gd name="adj" fmla="val 3902"/>
            </a:avLst>
          </a:prstGeom>
          <a:solidFill>
            <a:srgbClr val="1E2761"/>
          </a:solidFill>
          <a:ln w="12700">
            <a:solidFill>
              <a:srgbClr val="1E2761"/>
            </a:solidFill>
            <a:prstDash val="solid"/>
          </a:ln>
        </p:spPr>
      </p:sp>
      <p:sp>
        <p:nvSpPr>
          <p:cNvPr id="8" name="Text 6"/>
          <p:cNvSpPr txBox="1"/>
          <p:nvPr/>
        </p:nvSpPr>
        <p:spPr>
          <a:xfrm>
            <a:off x="777240" y="4023360"/>
            <a:ext cx="2926080" cy="731520"/>
          </a:xfrm>
          <a:prstGeom prst="rect">
            <a:avLst/>
          </a:prstGeom>
          <a:noFill/>
          <a:ln/>
        </p:spPr>
        <p:txBody>
          <a:bodyPr wrap="square" lIns="0" tIns="0" rIns="0" bIns="0" rtlCol="0" anchor="ctr"/>
          <a:lstStyle/>
          <a:p>
            <a:pPr indent="0" marL="0">
              <a:buNone/>
            </a:pPr>
            <a:r>
              <a:rPr lang="en-US" sz="4000" b="1" dirty="0">
                <a:solidFill>
                  <a:srgbClr val="E4572E"/>
                </a:solidFill>
                <a:latin typeface="Cambria" pitchFamily="34" charset="0"/>
                <a:ea typeface="Cambria" pitchFamily="34" charset="-122"/>
                <a:cs typeface="Cambria" pitchFamily="34" charset="-120"/>
              </a:rPr>
              <a:t>Weeks</a:t>
            </a:r>
            <a:endParaRPr lang="en-US" sz="4000" dirty="0"/>
          </a:p>
        </p:txBody>
      </p:sp>
      <p:sp>
        <p:nvSpPr>
          <p:cNvPr id="9" name="Text 7"/>
          <p:cNvSpPr txBox="1"/>
          <p:nvPr/>
        </p:nvSpPr>
        <p:spPr>
          <a:xfrm>
            <a:off x="777240" y="4754880"/>
            <a:ext cx="2926080" cy="86868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Typical time for a cyber cell to manually trace one network across spreadsheets</a:t>
            </a:r>
            <a:endParaRPr lang="en-US" sz="1250" dirty="0"/>
          </a:p>
        </p:txBody>
      </p:sp>
      <p:sp>
        <p:nvSpPr>
          <p:cNvPr id="10" name="Shape 8"/>
          <p:cNvSpPr/>
          <p:nvPr/>
        </p:nvSpPr>
        <p:spPr>
          <a:xfrm>
            <a:off x="4343400" y="1783080"/>
            <a:ext cx="457200" cy="457200"/>
          </a:xfrm>
          <a:prstGeom prst="ellipse">
            <a:avLst/>
          </a:prstGeom>
          <a:solidFill>
            <a:srgbClr val="1E2761"/>
          </a:solidFill>
          <a:ln w="12700">
            <a:solidFill>
              <a:srgbClr val="1E2761"/>
            </a:solidFill>
            <a:prstDash val="solid"/>
          </a:ln>
        </p:spPr>
      </p:sp>
      <p:sp>
        <p:nvSpPr>
          <p:cNvPr id="11" name="Text 9"/>
          <p:cNvSpPr txBox="1"/>
          <p:nvPr/>
        </p:nvSpPr>
        <p:spPr>
          <a:xfrm>
            <a:off x="434340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10"/>
          <p:cNvSpPr txBox="1"/>
          <p:nvPr/>
        </p:nvSpPr>
        <p:spPr>
          <a:xfrm>
            <a:off x="4983480" y="1755648"/>
            <a:ext cx="667512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Who</a:t>
            </a:r>
            <a:endParaRPr lang="en-US" sz="1500" dirty="0"/>
          </a:p>
        </p:txBody>
      </p:sp>
      <p:sp>
        <p:nvSpPr>
          <p:cNvPr id="13" name="Text 11"/>
          <p:cNvSpPr txBox="1"/>
          <p:nvPr/>
        </p:nvSpPr>
        <p:spPr>
          <a:xfrm>
            <a:off x="4983480" y="2075688"/>
            <a:ext cx="6675120" cy="777240"/>
          </a:xfrm>
          <a:prstGeom prst="rect">
            <a:avLst/>
          </a:prstGeom>
          <a:noFill/>
          <a:ln/>
        </p:spPr>
        <p:txBody>
          <a:bodyPr wrap="square" lIns="0" tIns="0" rIns="0" bIns="0" rtlCol="0" anchor="ctr"/>
          <a:lstStyle/>
          <a:p>
            <a:pPr indent="0" marL="0">
              <a:lnSpc>
                <a:spcPts val="1700"/>
              </a:lnSpc>
              <a:buNone/>
            </a:pPr>
            <a:r>
              <a:rPr lang="en-US" sz="1300" dirty="0">
                <a:solidFill>
                  <a:srgbClr val="1A1A2E"/>
                </a:solidFill>
                <a:latin typeface="Calibri" pitchFamily="34" charset="0"/>
                <a:ea typeface="Calibri" pitchFamily="34" charset="-122"/>
                <a:cs typeface="Calibri" pitchFamily="34" charset="-120"/>
              </a:rPr>
              <a:t>State Cyber Crime Cell investigators, often working a case alone against a coordinated ring.</a:t>
            </a:r>
            <a:endParaRPr lang="en-US" sz="1300" dirty="0"/>
          </a:p>
        </p:txBody>
      </p:sp>
      <p:sp>
        <p:nvSpPr>
          <p:cNvPr id="14" name="Shape 12"/>
          <p:cNvSpPr/>
          <p:nvPr/>
        </p:nvSpPr>
        <p:spPr>
          <a:xfrm>
            <a:off x="4343400" y="3136392"/>
            <a:ext cx="457200" cy="457200"/>
          </a:xfrm>
          <a:prstGeom prst="ellipse">
            <a:avLst/>
          </a:prstGeom>
          <a:solidFill>
            <a:srgbClr val="1E2761"/>
          </a:solidFill>
          <a:ln w="12700">
            <a:solidFill>
              <a:srgbClr val="1E2761"/>
            </a:solidFill>
            <a:prstDash val="solid"/>
          </a:ln>
        </p:spPr>
      </p:sp>
      <p:sp>
        <p:nvSpPr>
          <p:cNvPr id="15" name="Text 13"/>
          <p:cNvSpPr txBox="1"/>
          <p:nvPr/>
        </p:nvSpPr>
        <p:spPr>
          <a:xfrm>
            <a:off x="4343400" y="31363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txBox="1"/>
          <p:nvPr/>
        </p:nvSpPr>
        <p:spPr>
          <a:xfrm>
            <a:off x="4983480" y="3108960"/>
            <a:ext cx="667512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What</a:t>
            </a:r>
            <a:endParaRPr lang="en-US" sz="1500" dirty="0"/>
          </a:p>
        </p:txBody>
      </p:sp>
      <p:sp>
        <p:nvSpPr>
          <p:cNvPr id="17" name="Text 15"/>
          <p:cNvSpPr txBox="1"/>
          <p:nvPr/>
        </p:nvSpPr>
        <p:spPr>
          <a:xfrm>
            <a:off x="4983480" y="3429000"/>
            <a:ext cx="6675120" cy="777240"/>
          </a:xfrm>
          <a:prstGeom prst="rect">
            <a:avLst/>
          </a:prstGeom>
          <a:noFill/>
          <a:ln/>
        </p:spPr>
        <p:txBody>
          <a:bodyPr wrap="square" lIns="0" tIns="0" rIns="0" bIns="0" rtlCol="0" anchor="ctr"/>
          <a:lstStyle/>
          <a:p>
            <a:pPr indent="0" marL="0">
              <a:lnSpc>
                <a:spcPts val="1700"/>
              </a:lnSpc>
              <a:buNone/>
            </a:pPr>
            <a:r>
              <a:rPr lang="en-US" sz="1300" dirty="0">
                <a:solidFill>
                  <a:srgbClr val="1A1A2E"/>
                </a:solidFill>
                <a:latin typeface="Calibri" pitchFamily="34" charset="0"/>
                <a:ea typeface="Calibri" pitchFamily="34" charset="-122"/>
                <a:cs typeface="Calibri" pitchFamily="34" charset="-120"/>
              </a:rPr>
              <a:t>They receive disconnected evidence: bank transaction ledgers, telecom call records, and device (IMEI) registries, all as flat spreadsheets.</a:t>
            </a:r>
            <a:endParaRPr lang="en-US" sz="1300" dirty="0"/>
          </a:p>
        </p:txBody>
      </p:sp>
      <p:sp>
        <p:nvSpPr>
          <p:cNvPr id="18" name="Shape 16"/>
          <p:cNvSpPr/>
          <p:nvPr/>
        </p:nvSpPr>
        <p:spPr>
          <a:xfrm>
            <a:off x="4343400" y="4489704"/>
            <a:ext cx="457200" cy="457200"/>
          </a:xfrm>
          <a:prstGeom prst="ellipse">
            <a:avLst/>
          </a:prstGeom>
          <a:solidFill>
            <a:srgbClr val="1E2761"/>
          </a:solidFill>
          <a:ln w="12700">
            <a:solidFill>
              <a:srgbClr val="1E2761"/>
            </a:solidFill>
            <a:prstDash val="solid"/>
          </a:ln>
        </p:spPr>
      </p:sp>
      <p:sp>
        <p:nvSpPr>
          <p:cNvPr id="19" name="Text 17"/>
          <p:cNvSpPr txBox="1"/>
          <p:nvPr/>
        </p:nvSpPr>
        <p:spPr>
          <a:xfrm>
            <a:off x="4343400" y="44897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txBox="1"/>
          <p:nvPr/>
        </p:nvSpPr>
        <p:spPr>
          <a:xfrm>
            <a:off x="4983480" y="4462272"/>
            <a:ext cx="667512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Why it hurts</a:t>
            </a:r>
            <a:endParaRPr lang="en-US" sz="1500" dirty="0"/>
          </a:p>
        </p:txBody>
      </p:sp>
      <p:sp>
        <p:nvSpPr>
          <p:cNvPr id="21" name="Text 19"/>
          <p:cNvSpPr txBox="1"/>
          <p:nvPr/>
        </p:nvSpPr>
        <p:spPr>
          <a:xfrm>
            <a:off x="4983480" y="4782312"/>
            <a:ext cx="6675120" cy="777240"/>
          </a:xfrm>
          <a:prstGeom prst="rect">
            <a:avLst/>
          </a:prstGeom>
          <a:noFill/>
          <a:ln/>
        </p:spPr>
        <p:txBody>
          <a:bodyPr wrap="square" lIns="0" tIns="0" rIns="0" bIns="0" rtlCol="0" anchor="ctr"/>
          <a:lstStyle/>
          <a:p>
            <a:pPr indent="0" marL="0">
              <a:lnSpc>
                <a:spcPts val="1700"/>
              </a:lnSpc>
              <a:buNone/>
            </a:pPr>
            <a:r>
              <a:rPr lang="en-US" sz="1300" dirty="0">
                <a:solidFill>
                  <a:srgbClr val="1A1A2E"/>
                </a:solidFill>
                <a:latin typeface="Calibri" pitchFamily="34" charset="0"/>
                <a:ea typeface="Calibri" pitchFamily="34" charset="-122"/>
                <a:cs typeface="Calibri" pitchFamily="34" charset="-120"/>
              </a:rPr>
              <a:t>Manual cross-referencing takes so long that kingpins dissolve mule accounts and swap burner devices before the network is even mapped.</a:t>
            </a:r>
            <a:endParaRPr lang="en-US" sz="1300" dirty="0"/>
          </a:p>
        </p:txBody>
      </p:sp>
      <p:sp>
        <p:nvSpPr>
          <p:cNvPr id="22" name="Text 20"/>
          <p:cNvSpPr txBox="1"/>
          <p:nvPr/>
        </p:nvSpPr>
        <p:spPr>
          <a:xfrm>
            <a:off x="548640" y="6400800"/>
            <a:ext cx="5486400" cy="320040"/>
          </a:xfrm>
          <a:prstGeom prst="rect">
            <a:avLst/>
          </a:prstGeom>
          <a:noFill/>
          <a:ln/>
        </p:spPr>
        <p:txBody>
          <a:bodyPr wrap="square" lIns="0" tIns="0" rIns="0" bIns="0" rtlCol="0" anchor="ctr"/>
          <a:lstStyle/>
          <a:p>
            <a:pPr algn="l" indent="0" marL="0">
              <a:buNone/>
            </a:pPr>
            <a:r>
              <a:rPr lang="en-US" sz="1000" dirty="0">
                <a:solidFill>
                  <a:srgbClr val="A6ADC2"/>
                </a:solidFill>
                <a:latin typeface="Calibri" pitchFamily="34" charset="0"/>
                <a:ea typeface="Calibri" pitchFamily="34" charset="-122"/>
                <a:cs typeface="Calibri" pitchFamily="34" charset="-120"/>
              </a:rPr>
              <a:t>ChakraView  •  IBM x NFSU Hackathon</a:t>
            </a:r>
            <a:endParaRPr lang="en-US" sz="1000" dirty="0"/>
          </a:p>
        </p:txBody>
      </p:sp>
      <p:sp>
        <p:nvSpPr>
          <p:cNvPr id="23" name="Text 21"/>
          <p:cNvSpPr txBox="1"/>
          <p:nvPr/>
        </p:nvSpPr>
        <p:spPr>
          <a:xfrm>
            <a:off x="11365992" y="6400800"/>
            <a:ext cx="548640" cy="320040"/>
          </a:xfrm>
          <a:prstGeom prst="rect">
            <a:avLst/>
          </a:prstGeom>
          <a:noFill/>
          <a:ln/>
        </p:spPr>
        <p:txBody>
          <a:bodyPr wrap="square" lIns="0" tIns="0" rIns="0" bIns="0" rtlCol="0" anchor="ctr"/>
          <a:lstStyle/>
          <a:p>
            <a:pPr algn="r" indent="0" marL="0">
              <a:buNone/>
            </a:pPr>
            <a:r>
              <a:rPr lang="en-US" sz="1000" dirty="0">
                <a:solidFill>
                  <a:srgbClr val="A6ADC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algn="l" indent="0" marL="0">
              <a:buNone/>
            </a:pPr>
            <a:r>
              <a:rPr lang="en-US" sz="1300" b="1" spc="200" kern="0" dirty="0">
                <a:solidFill>
                  <a:srgbClr val="E4572E"/>
                </a:solidFill>
                <a:latin typeface="Calibri" pitchFamily="34" charset="0"/>
                <a:ea typeface="Calibri" pitchFamily="34" charset="-122"/>
                <a:cs typeface="Calibri" pitchFamily="34" charset="-120"/>
              </a:rPr>
              <a:t>THE SOLUTION</a:t>
            </a:r>
            <a:endParaRPr lang="en-US" sz="1300" dirty="0"/>
          </a:p>
        </p:txBody>
      </p:sp>
      <p:sp>
        <p:nvSpPr>
          <p:cNvPr id="3" name="Text 1"/>
          <p:cNvSpPr txBox="1"/>
          <p:nvPr/>
        </p:nvSpPr>
        <p:spPr>
          <a:xfrm>
            <a:off x="548640" y="713232"/>
            <a:ext cx="10607040" cy="82296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One upload, one connected picture of the network</a:t>
            </a:r>
            <a:endParaRPr lang="en-US" sz="3400" dirty="0"/>
          </a:p>
        </p:txBody>
      </p:sp>
      <p:sp>
        <p:nvSpPr>
          <p:cNvPr id="4" name="Text 2"/>
          <p:cNvSpPr txBox="1"/>
          <p:nvPr/>
        </p:nvSpPr>
        <p:spPr>
          <a:xfrm>
            <a:off x="548640" y="1554480"/>
            <a:ext cx="10607040" cy="5943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ChakraView is a web-based graph-intelligence forensics portal, built with React and TypeScript, that turns unformatted fraud evidence into a mapped network and a legally usable case brief.</a:t>
            </a:r>
            <a:endParaRPr lang="en-US" sz="1400" dirty="0"/>
          </a:p>
        </p:txBody>
      </p:sp>
      <p:sp>
        <p:nvSpPr>
          <p:cNvPr id="5" name="Shape 3"/>
          <p:cNvSpPr/>
          <p:nvPr/>
        </p:nvSpPr>
        <p:spPr>
          <a:xfrm>
            <a:off x="548640" y="2468880"/>
            <a:ext cx="1916582" cy="3200400"/>
          </a:xfrm>
          <a:prstGeom prst="roundRect">
            <a:avLst>
              <a:gd name="adj" fmla="val 4294"/>
            </a:avLst>
          </a:prstGeom>
          <a:solidFill>
            <a:srgbClr val="F4F6FB"/>
          </a:solidFill>
          <a:ln w="12700">
            <a:solidFill>
              <a:srgbClr val="D8DEEA"/>
            </a:solidFill>
            <a:prstDash val="solid"/>
          </a:ln>
        </p:spPr>
      </p:sp>
      <p:sp>
        <p:nvSpPr>
          <p:cNvPr id="6" name="Shape 4"/>
          <p:cNvSpPr/>
          <p:nvPr/>
        </p:nvSpPr>
        <p:spPr>
          <a:xfrm>
            <a:off x="1250899" y="2743200"/>
            <a:ext cx="512064" cy="512064"/>
          </a:xfrm>
          <a:prstGeom prst="ellipse">
            <a:avLst/>
          </a:prstGeom>
          <a:solidFill>
            <a:srgbClr val="1E2761"/>
          </a:solidFill>
          <a:ln w="12700">
            <a:solidFill>
              <a:srgbClr val="1E2761"/>
            </a:solidFill>
            <a:prstDash val="solid"/>
          </a:ln>
        </p:spPr>
      </p:sp>
      <p:sp>
        <p:nvSpPr>
          <p:cNvPr id="7" name="Text 5"/>
          <p:cNvSpPr txBox="1"/>
          <p:nvPr/>
        </p:nvSpPr>
        <p:spPr>
          <a:xfrm>
            <a:off x="1250899" y="27432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685800" y="3429000"/>
            <a:ext cx="1642262"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Upload</a:t>
            </a:r>
            <a:endParaRPr lang="en-US" sz="1500" dirty="0"/>
          </a:p>
        </p:txBody>
      </p:sp>
      <p:sp>
        <p:nvSpPr>
          <p:cNvPr id="9" name="Text 7"/>
          <p:cNvSpPr txBox="1"/>
          <p:nvPr/>
        </p:nvSpPr>
        <p:spPr>
          <a:xfrm>
            <a:off x="713232" y="3840480"/>
            <a:ext cx="1587398" cy="1691640"/>
          </a:xfrm>
          <a:prstGeom prst="rect">
            <a:avLst/>
          </a:prstGeom>
          <a:noFill/>
          <a:ln/>
        </p:spPr>
        <p:txBody>
          <a:bodyPr wrap="square" lIns="0" tIns="0" rIns="0" bIns="0" rtlCol="0" anchor="ctr"/>
          <a:lstStyle/>
          <a:p>
            <a:pPr algn="ctr" indent="0" marL="0">
              <a:lnSpc>
                <a:spcPts val="1500"/>
              </a:lnSpc>
              <a:buNone/>
            </a:pPr>
            <a:r>
              <a:rPr lang="en-US" sz="1150" dirty="0">
                <a:solidFill>
                  <a:srgbClr val="1A1A2E"/>
                </a:solidFill>
                <a:latin typeface="Calibri" pitchFamily="34" charset="0"/>
                <a:ea typeface="Calibri" pitchFamily="34" charset="-122"/>
                <a:cs typeface="Calibri" pitchFamily="34" charset="-120"/>
              </a:rPr>
              <a:t>Investigator drops in raw text or CSV logs: transactions, CDRs, device data.</a:t>
            </a:r>
            <a:endParaRPr lang="en-US" sz="1150" dirty="0"/>
          </a:p>
        </p:txBody>
      </p:sp>
      <p:sp>
        <p:nvSpPr>
          <p:cNvPr id="10" name="Text 8"/>
          <p:cNvSpPr txBox="1"/>
          <p:nvPr/>
        </p:nvSpPr>
        <p:spPr>
          <a:xfrm>
            <a:off x="2465222" y="3840480"/>
            <a:ext cx="256032" cy="457200"/>
          </a:xfrm>
          <a:prstGeom prst="rect">
            <a:avLst/>
          </a:prstGeom>
          <a:noFill/>
          <a:ln/>
        </p:spPr>
        <p:txBody>
          <a:bodyPr wrap="square" lIns="0" tIns="0" rIns="0" bIns="0" rtlCol="0" anchor="ctr"/>
          <a:lstStyle/>
          <a:p>
            <a:pPr algn="ctr" indent="0" marL="0">
              <a:buNone/>
            </a:pPr>
            <a:r>
              <a:rPr lang="en-US" sz="1600" dirty="0">
                <a:solidFill>
                  <a:srgbClr val="5B6472"/>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721254" y="2468880"/>
            <a:ext cx="1916582" cy="3200400"/>
          </a:xfrm>
          <a:prstGeom prst="roundRect">
            <a:avLst>
              <a:gd name="adj" fmla="val 4294"/>
            </a:avLst>
          </a:prstGeom>
          <a:solidFill>
            <a:srgbClr val="F4F6FB"/>
          </a:solidFill>
          <a:ln w="12700">
            <a:solidFill>
              <a:srgbClr val="D8DEEA"/>
            </a:solidFill>
            <a:prstDash val="solid"/>
          </a:ln>
        </p:spPr>
      </p:sp>
      <p:sp>
        <p:nvSpPr>
          <p:cNvPr id="12" name="Shape 10"/>
          <p:cNvSpPr/>
          <p:nvPr/>
        </p:nvSpPr>
        <p:spPr>
          <a:xfrm>
            <a:off x="3423514" y="2743200"/>
            <a:ext cx="512064" cy="512064"/>
          </a:xfrm>
          <a:prstGeom prst="ellipse">
            <a:avLst/>
          </a:prstGeom>
          <a:solidFill>
            <a:srgbClr val="1E2761"/>
          </a:solidFill>
          <a:ln w="12700">
            <a:solidFill>
              <a:srgbClr val="1E2761"/>
            </a:solidFill>
            <a:prstDash val="solid"/>
          </a:ln>
        </p:spPr>
      </p:sp>
      <p:sp>
        <p:nvSpPr>
          <p:cNvPr id="13" name="Text 11"/>
          <p:cNvSpPr txBox="1"/>
          <p:nvPr/>
        </p:nvSpPr>
        <p:spPr>
          <a:xfrm>
            <a:off x="3423514" y="27432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txBox="1"/>
          <p:nvPr/>
        </p:nvSpPr>
        <p:spPr>
          <a:xfrm>
            <a:off x="2858414" y="3429000"/>
            <a:ext cx="1642262"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Extract</a:t>
            </a:r>
            <a:endParaRPr lang="en-US" sz="1500" dirty="0"/>
          </a:p>
        </p:txBody>
      </p:sp>
      <p:sp>
        <p:nvSpPr>
          <p:cNvPr id="15" name="Text 13"/>
          <p:cNvSpPr txBox="1"/>
          <p:nvPr/>
        </p:nvSpPr>
        <p:spPr>
          <a:xfrm>
            <a:off x="2885846" y="3840480"/>
            <a:ext cx="1587398" cy="1691640"/>
          </a:xfrm>
          <a:prstGeom prst="rect">
            <a:avLst/>
          </a:prstGeom>
          <a:noFill/>
          <a:ln/>
        </p:spPr>
        <p:txBody>
          <a:bodyPr wrap="square" lIns="0" tIns="0" rIns="0" bIns="0" rtlCol="0" anchor="ctr"/>
          <a:lstStyle/>
          <a:p>
            <a:pPr algn="ctr" indent="0" marL="0">
              <a:lnSpc>
                <a:spcPts val="1500"/>
              </a:lnSpc>
              <a:buNone/>
            </a:pPr>
            <a:r>
              <a:rPr lang="en-US" sz="1150" dirty="0">
                <a:solidFill>
                  <a:srgbClr val="1A1A2E"/>
                </a:solidFill>
                <a:latin typeface="Calibri" pitchFamily="34" charset="0"/>
                <a:ea typeface="Calibri" pitchFamily="34" charset="-122"/>
                <a:cs typeface="Calibri" pitchFamily="34" charset="-120"/>
              </a:rPr>
              <a:t>Engine identifies phones, IMEIs, UPI IDs, accounts and IFSC codes.</a:t>
            </a:r>
            <a:endParaRPr lang="en-US" sz="1150" dirty="0"/>
          </a:p>
        </p:txBody>
      </p:sp>
      <p:sp>
        <p:nvSpPr>
          <p:cNvPr id="16" name="Text 14"/>
          <p:cNvSpPr txBox="1"/>
          <p:nvPr/>
        </p:nvSpPr>
        <p:spPr>
          <a:xfrm>
            <a:off x="4637837" y="3840480"/>
            <a:ext cx="256032" cy="457200"/>
          </a:xfrm>
          <a:prstGeom prst="rect">
            <a:avLst/>
          </a:prstGeom>
          <a:noFill/>
          <a:ln/>
        </p:spPr>
        <p:txBody>
          <a:bodyPr wrap="square" lIns="0" tIns="0" rIns="0" bIns="0" rtlCol="0" anchor="ctr"/>
          <a:lstStyle/>
          <a:p>
            <a:pPr algn="ctr" indent="0" marL="0">
              <a:buNone/>
            </a:pPr>
            <a:r>
              <a:rPr lang="en-US" sz="1600" dirty="0">
                <a:solidFill>
                  <a:srgbClr val="5B6472"/>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4893869" y="2468880"/>
            <a:ext cx="1916582" cy="3200400"/>
          </a:xfrm>
          <a:prstGeom prst="roundRect">
            <a:avLst>
              <a:gd name="adj" fmla="val 4294"/>
            </a:avLst>
          </a:prstGeom>
          <a:solidFill>
            <a:srgbClr val="F4F6FB"/>
          </a:solidFill>
          <a:ln w="12700">
            <a:solidFill>
              <a:srgbClr val="D8DEEA"/>
            </a:solidFill>
            <a:prstDash val="solid"/>
          </a:ln>
        </p:spPr>
      </p:sp>
      <p:sp>
        <p:nvSpPr>
          <p:cNvPr id="18" name="Shape 16"/>
          <p:cNvSpPr/>
          <p:nvPr/>
        </p:nvSpPr>
        <p:spPr>
          <a:xfrm>
            <a:off x="5596128" y="2743200"/>
            <a:ext cx="512064" cy="512064"/>
          </a:xfrm>
          <a:prstGeom prst="ellipse">
            <a:avLst/>
          </a:prstGeom>
          <a:solidFill>
            <a:srgbClr val="1E2761"/>
          </a:solidFill>
          <a:ln w="12700">
            <a:solidFill>
              <a:srgbClr val="1E2761"/>
            </a:solidFill>
            <a:prstDash val="solid"/>
          </a:ln>
        </p:spPr>
      </p:sp>
      <p:sp>
        <p:nvSpPr>
          <p:cNvPr id="19" name="Text 17"/>
          <p:cNvSpPr txBox="1"/>
          <p:nvPr/>
        </p:nvSpPr>
        <p:spPr>
          <a:xfrm>
            <a:off x="5596128" y="27432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8"/>
          <p:cNvSpPr txBox="1"/>
          <p:nvPr/>
        </p:nvSpPr>
        <p:spPr>
          <a:xfrm>
            <a:off x="5031029" y="3429000"/>
            <a:ext cx="1642262"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Map</a:t>
            </a:r>
            <a:endParaRPr lang="en-US" sz="1500" dirty="0"/>
          </a:p>
        </p:txBody>
      </p:sp>
      <p:sp>
        <p:nvSpPr>
          <p:cNvPr id="21" name="Text 19"/>
          <p:cNvSpPr txBox="1"/>
          <p:nvPr/>
        </p:nvSpPr>
        <p:spPr>
          <a:xfrm>
            <a:off x="5058461" y="3840480"/>
            <a:ext cx="1587398" cy="1691640"/>
          </a:xfrm>
          <a:prstGeom prst="rect">
            <a:avLst/>
          </a:prstGeom>
          <a:noFill/>
          <a:ln/>
        </p:spPr>
        <p:txBody>
          <a:bodyPr wrap="square" lIns="0" tIns="0" rIns="0" bIns="0" rtlCol="0" anchor="ctr"/>
          <a:lstStyle/>
          <a:p>
            <a:pPr algn="ctr" indent="0" marL="0">
              <a:lnSpc>
                <a:spcPts val="1500"/>
              </a:lnSpc>
              <a:buNone/>
            </a:pPr>
            <a:r>
              <a:rPr lang="en-US" sz="1150" dirty="0">
                <a:solidFill>
                  <a:srgbClr val="1A1A2E"/>
                </a:solidFill>
                <a:latin typeface="Calibri" pitchFamily="34" charset="0"/>
                <a:ea typeface="Calibri" pitchFamily="34" charset="-122"/>
                <a:cs typeface="Calibri" pitchFamily="34" charset="-120"/>
              </a:rPr>
              <a:t>Entities are linked into a directed relationship graph.</a:t>
            </a:r>
            <a:endParaRPr lang="en-US" sz="1150" dirty="0"/>
          </a:p>
        </p:txBody>
      </p:sp>
      <p:sp>
        <p:nvSpPr>
          <p:cNvPr id="22" name="Text 20"/>
          <p:cNvSpPr txBox="1"/>
          <p:nvPr/>
        </p:nvSpPr>
        <p:spPr>
          <a:xfrm>
            <a:off x="6810451" y="3840480"/>
            <a:ext cx="256032" cy="457200"/>
          </a:xfrm>
          <a:prstGeom prst="rect">
            <a:avLst/>
          </a:prstGeom>
          <a:noFill/>
          <a:ln/>
        </p:spPr>
        <p:txBody>
          <a:bodyPr wrap="square" lIns="0" tIns="0" rIns="0" bIns="0" rtlCol="0" anchor="ctr"/>
          <a:lstStyle/>
          <a:p>
            <a:pPr algn="ctr" indent="0" marL="0">
              <a:buNone/>
            </a:pPr>
            <a:r>
              <a:rPr lang="en-US" sz="1600" dirty="0">
                <a:solidFill>
                  <a:srgbClr val="5B6472"/>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7066483" y="2468880"/>
            <a:ext cx="1916582" cy="3200400"/>
          </a:xfrm>
          <a:prstGeom prst="roundRect">
            <a:avLst>
              <a:gd name="adj" fmla="val 4294"/>
            </a:avLst>
          </a:prstGeom>
          <a:solidFill>
            <a:srgbClr val="F4F6FB"/>
          </a:solidFill>
          <a:ln w="12700">
            <a:solidFill>
              <a:srgbClr val="D8DEEA"/>
            </a:solidFill>
            <a:prstDash val="solid"/>
          </a:ln>
        </p:spPr>
      </p:sp>
      <p:sp>
        <p:nvSpPr>
          <p:cNvPr id="24" name="Shape 22"/>
          <p:cNvSpPr/>
          <p:nvPr/>
        </p:nvSpPr>
        <p:spPr>
          <a:xfrm>
            <a:off x="7768742" y="2743200"/>
            <a:ext cx="512064" cy="512064"/>
          </a:xfrm>
          <a:prstGeom prst="ellipse">
            <a:avLst/>
          </a:prstGeom>
          <a:solidFill>
            <a:srgbClr val="1E2761"/>
          </a:solidFill>
          <a:ln w="12700">
            <a:solidFill>
              <a:srgbClr val="1E2761"/>
            </a:solidFill>
            <a:prstDash val="solid"/>
          </a:ln>
        </p:spPr>
      </p:sp>
      <p:sp>
        <p:nvSpPr>
          <p:cNvPr id="25" name="Text 23"/>
          <p:cNvSpPr txBox="1"/>
          <p:nvPr/>
        </p:nvSpPr>
        <p:spPr>
          <a:xfrm>
            <a:off x="7768742" y="27432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6" name="Text 24"/>
          <p:cNvSpPr txBox="1"/>
          <p:nvPr/>
        </p:nvSpPr>
        <p:spPr>
          <a:xfrm>
            <a:off x="7203643" y="3429000"/>
            <a:ext cx="1642262"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Isolate</a:t>
            </a:r>
            <a:endParaRPr lang="en-US" sz="1500" dirty="0"/>
          </a:p>
        </p:txBody>
      </p:sp>
      <p:sp>
        <p:nvSpPr>
          <p:cNvPr id="27" name="Text 25"/>
          <p:cNvSpPr txBox="1"/>
          <p:nvPr/>
        </p:nvSpPr>
        <p:spPr>
          <a:xfrm>
            <a:off x="7231075" y="3840480"/>
            <a:ext cx="1587398" cy="1691640"/>
          </a:xfrm>
          <a:prstGeom prst="rect">
            <a:avLst/>
          </a:prstGeom>
          <a:noFill/>
          <a:ln/>
        </p:spPr>
        <p:txBody>
          <a:bodyPr wrap="square" lIns="0" tIns="0" rIns="0" bIns="0" rtlCol="0" anchor="ctr"/>
          <a:lstStyle/>
          <a:p>
            <a:pPr algn="ctr" indent="0" marL="0">
              <a:lnSpc>
                <a:spcPts val="1500"/>
              </a:lnSpc>
              <a:buNone/>
            </a:pPr>
            <a:r>
              <a:rPr lang="en-US" sz="1150" dirty="0">
                <a:solidFill>
                  <a:srgbClr val="1A1A2E"/>
                </a:solidFill>
                <a:latin typeface="Calibri" pitchFamily="34" charset="0"/>
                <a:ea typeface="Calibri" pitchFamily="34" charset="-122"/>
                <a:cs typeface="Calibri" pitchFamily="34" charset="-120"/>
              </a:rPr>
              <a:t>Centrality analysis finds the convergence node: the likely kingpin.</a:t>
            </a:r>
            <a:endParaRPr lang="en-US" sz="1150" dirty="0"/>
          </a:p>
        </p:txBody>
      </p:sp>
      <p:sp>
        <p:nvSpPr>
          <p:cNvPr id="28" name="Text 26"/>
          <p:cNvSpPr txBox="1"/>
          <p:nvPr/>
        </p:nvSpPr>
        <p:spPr>
          <a:xfrm>
            <a:off x="8983066" y="3840480"/>
            <a:ext cx="256032" cy="457200"/>
          </a:xfrm>
          <a:prstGeom prst="rect">
            <a:avLst/>
          </a:prstGeom>
          <a:noFill/>
          <a:ln/>
        </p:spPr>
        <p:txBody>
          <a:bodyPr wrap="square" lIns="0" tIns="0" rIns="0" bIns="0" rtlCol="0" anchor="ctr"/>
          <a:lstStyle/>
          <a:p>
            <a:pPr algn="ctr" indent="0" marL="0">
              <a:buNone/>
            </a:pPr>
            <a:r>
              <a:rPr lang="en-US" sz="1600" dirty="0">
                <a:solidFill>
                  <a:srgbClr val="5B6472"/>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9239098" y="2468880"/>
            <a:ext cx="1916582" cy="3200400"/>
          </a:xfrm>
          <a:prstGeom prst="roundRect">
            <a:avLst>
              <a:gd name="adj" fmla="val 4294"/>
            </a:avLst>
          </a:prstGeom>
          <a:solidFill>
            <a:srgbClr val="1E2761"/>
          </a:solidFill>
          <a:ln w="12700">
            <a:solidFill>
              <a:srgbClr val="1E2761"/>
            </a:solidFill>
            <a:prstDash val="solid"/>
          </a:ln>
        </p:spPr>
      </p:sp>
      <p:sp>
        <p:nvSpPr>
          <p:cNvPr id="30" name="Shape 28"/>
          <p:cNvSpPr/>
          <p:nvPr/>
        </p:nvSpPr>
        <p:spPr>
          <a:xfrm>
            <a:off x="9941357" y="2743200"/>
            <a:ext cx="512064" cy="512064"/>
          </a:xfrm>
          <a:prstGeom prst="ellipse">
            <a:avLst/>
          </a:prstGeom>
          <a:solidFill>
            <a:srgbClr val="E4572E"/>
          </a:solidFill>
          <a:ln w="12700">
            <a:solidFill>
              <a:srgbClr val="E4572E"/>
            </a:solidFill>
            <a:prstDash val="solid"/>
          </a:ln>
        </p:spPr>
      </p:sp>
      <p:sp>
        <p:nvSpPr>
          <p:cNvPr id="31" name="Text 29"/>
          <p:cNvSpPr txBox="1"/>
          <p:nvPr/>
        </p:nvSpPr>
        <p:spPr>
          <a:xfrm>
            <a:off x="9941357" y="27432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2" name="Text 30"/>
          <p:cNvSpPr txBox="1"/>
          <p:nvPr/>
        </p:nvSpPr>
        <p:spPr>
          <a:xfrm>
            <a:off x="9376258" y="3429000"/>
            <a:ext cx="164226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Brief</a:t>
            </a:r>
            <a:endParaRPr lang="en-US" sz="1500" dirty="0"/>
          </a:p>
        </p:txBody>
      </p:sp>
      <p:sp>
        <p:nvSpPr>
          <p:cNvPr id="33" name="Text 31"/>
          <p:cNvSpPr txBox="1"/>
          <p:nvPr/>
        </p:nvSpPr>
        <p:spPr>
          <a:xfrm>
            <a:off x="9403690" y="3840480"/>
            <a:ext cx="1587398" cy="1691640"/>
          </a:xfrm>
          <a:prstGeom prst="rect">
            <a:avLst/>
          </a:prstGeom>
          <a:noFill/>
          <a:ln/>
        </p:spPr>
        <p:txBody>
          <a:bodyPr wrap="square" lIns="0" tIns="0" rIns="0" bIns="0" rtlCol="0" anchor="ctr"/>
          <a:lstStyle/>
          <a:p>
            <a:pPr algn="ctr" indent="0" marL="0">
              <a:lnSpc>
                <a:spcPts val="1500"/>
              </a:lnSpc>
              <a:buNone/>
            </a:pPr>
            <a:r>
              <a:rPr lang="en-US" sz="1150" dirty="0">
                <a:solidFill>
                  <a:srgbClr val="CADCFC"/>
                </a:solidFill>
                <a:latin typeface="Calibri" pitchFamily="34" charset="0"/>
                <a:ea typeface="Calibri" pitchFamily="34" charset="-122"/>
                <a:cs typeface="Calibri" pitchFamily="34" charset="-120"/>
              </a:rPr>
              <a:t>A structured, FIR-ready case brief is generated automatically.</a:t>
            </a:r>
            <a:endParaRPr lang="en-US" sz="1150" dirty="0"/>
          </a:p>
        </p:txBody>
      </p:sp>
      <p:sp>
        <p:nvSpPr>
          <p:cNvPr id="34" name="Text 32"/>
          <p:cNvSpPr txBox="1"/>
          <p:nvPr/>
        </p:nvSpPr>
        <p:spPr>
          <a:xfrm>
            <a:off x="548640" y="6400800"/>
            <a:ext cx="5486400" cy="320040"/>
          </a:xfrm>
          <a:prstGeom prst="rect">
            <a:avLst/>
          </a:prstGeom>
          <a:noFill/>
          <a:ln/>
        </p:spPr>
        <p:txBody>
          <a:bodyPr wrap="square" lIns="0" tIns="0" rIns="0" bIns="0" rtlCol="0" anchor="ctr"/>
          <a:lstStyle/>
          <a:p>
            <a:pPr algn="l" indent="0" marL="0">
              <a:buNone/>
            </a:pPr>
            <a:r>
              <a:rPr lang="en-US" sz="1000" dirty="0">
                <a:solidFill>
                  <a:srgbClr val="A6ADC2"/>
                </a:solidFill>
                <a:latin typeface="Calibri" pitchFamily="34" charset="0"/>
                <a:ea typeface="Calibri" pitchFamily="34" charset="-122"/>
                <a:cs typeface="Calibri" pitchFamily="34" charset="-120"/>
              </a:rPr>
              <a:t>ChakraView  •  IBM x NFSU Hackathon</a:t>
            </a:r>
            <a:endParaRPr lang="en-US" sz="1000" dirty="0"/>
          </a:p>
        </p:txBody>
      </p:sp>
      <p:sp>
        <p:nvSpPr>
          <p:cNvPr id="35" name="Text 33"/>
          <p:cNvSpPr txBox="1"/>
          <p:nvPr/>
        </p:nvSpPr>
        <p:spPr>
          <a:xfrm>
            <a:off x="11365992" y="6400800"/>
            <a:ext cx="548640" cy="320040"/>
          </a:xfrm>
          <a:prstGeom prst="rect">
            <a:avLst/>
          </a:prstGeom>
          <a:noFill/>
          <a:ln/>
        </p:spPr>
        <p:txBody>
          <a:bodyPr wrap="square" lIns="0" tIns="0" rIns="0" bIns="0" rtlCol="0" anchor="ctr"/>
          <a:lstStyle/>
          <a:p>
            <a:pPr algn="r" indent="0" marL="0">
              <a:buNone/>
            </a:pPr>
            <a:r>
              <a:rPr lang="en-US" sz="1000" dirty="0">
                <a:solidFill>
                  <a:srgbClr val="A6ADC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algn="l" indent="0" marL="0">
              <a:buNone/>
            </a:pPr>
            <a:r>
              <a:rPr lang="en-US" sz="1300" b="1" spc="200" kern="0" dirty="0">
                <a:solidFill>
                  <a:srgbClr val="E4572E"/>
                </a:solidFill>
                <a:latin typeface="Calibri" pitchFamily="34" charset="0"/>
                <a:ea typeface="Calibri" pitchFamily="34" charset="-122"/>
                <a:cs typeface="Calibri" pitchFamily="34" charset="-120"/>
              </a:rPr>
              <a:t>DEMO &amp; ARCHITECTURE</a:t>
            </a:r>
            <a:endParaRPr lang="en-US" sz="1300" dirty="0"/>
          </a:p>
        </p:txBody>
      </p:sp>
      <p:sp>
        <p:nvSpPr>
          <p:cNvPr id="3" name="Text 1"/>
          <p:cNvSpPr txBox="1"/>
          <p:nvPr/>
        </p:nvSpPr>
        <p:spPr>
          <a:xfrm>
            <a:off x="548640" y="713232"/>
            <a:ext cx="10607040" cy="822960"/>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A layered stack built to keep working offline</a:t>
            </a:r>
            <a:endParaRPr lang="en-US" sz="3400" dirty="0"/>
          </a:p>
        </p:txBody>
      </p:sp>
      <p:sp>
        <p:nvSpPr>
          <p:cNvPr id="4" name="Shape 2"/>
          <p:cNvSpPr/>
          <p:nvPr/>
        </p:nvSpPr>
        <p:spPr>
          <a:xfrm>
            <a:off x="548640" y="1691640"/>
            <a:ext cx="5394960" cy="786384"/>
          </a:xfrm>
          <a:prstGeom prst="roundRect">
            <a:avLst>
              <a:gd name="adj" fmla="val 8140"/>
            </a:avLst>
          </a:prstGeom>
          <a:solidFill>
            <a:srgbClr val="F4F6FB"/>
          </a:solidFill>
          <a:ln w="12700">
            <a:solidFill>
              <a:srgbClr val="D8DEEA"/>
            </a:solidFill>
            <a:prstDash val="solid"/>
          </a:ln>
        </p:spPr>
      </p:sp>
      <p:sp>
        <p:nvSpPr>
          <p:cNvPr id="5" name="Text 3"/>
          <p:cNvSpPr txBox="1"/>
          <p:nvPr/>
        </p:nvSpPr>
        <p:spPr>
          <a:xfrm>
            <a:off x="777240" y="1764792"/>
            <a:ext cx="49377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User Interface</a:t>
            </a:r>
            <a:endParaRPr lang="en-US" sz="1400" dirty="0"/>
          </a:p>
        </p:txBody>
      </p:sp>
      <p:sp>
        <p:nvSpPr>
          <p:cNvPr id="6" name="Text 4"/>
          <p:cNvSpPr txBox="1"/>
          <p:nvPr/>
        </p:nvSpPr>
        <p:spPr>
          <a:xfrm>
            <a:off x="777240" y="2093976"/>
            <a:ext cx="4937760" cy="3200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React 19, Tailwind, Vite</a:t>
            </a:r>
            <a:endParaRPr lang="en-US" sz="1150" dirty="0"/>
          </a:p>
        </p:txBody>
      </p:sp>
      <p:sp>
        <p:nvSpPr>
          <p:cNvPr id="7" name="Text 5"/>
          <p:cNvSpPr txBox="1"/>
          <p:nvPr/>
        </p:nvSpPr>
        <p:spPr>
          <a:xfrm>
            <a:off x="3108960" y="2459736"/>
            <a:ext cx="274320" cy="237744"/>
          </a:xfrm>
          <a:prstGeom prst="rect">
            <a:avLst/>
          </a:prstGeom>
          <a:noFill/>
          <a:ln/>
        </p:spPr>
        <p:txBody>
          <a:bodyPr wrap="square" lIns="0" tIns="0" rIns="0" bIns="0"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a:t>
            </a:r>
            <a:endParaRPr lang="en-US" sz="1300" dirty="0"/>
          </a:p>
        </p:txBody>
      </p:sp>
      <p:sp>
        <p:nvSpPr>
          <p:cNvPr id="8" name="Shape 6"/>
          <p:cNvSpPr/>
          <p:nvPr/>
        </p:nvSpPr>
        <p:spPr>
          <a:xfrm>
            <a:off x="548640" y="2606040"/>
            <a:ext cx="5394960" cy="786384"/>
          </a:xfrm>
          <a:prstGeom prst="roundRect">
            <a:avLst>
              <a:gd name="adj" fmla="val 8140"/>
            </a:avLst>
          </a:prstGeom>
          <a:solidFill>
            <a:srgbClr val="E9EEFB"/>
          </a:solidFill>
          <a:ln w="12700">
            <a:solidFill>
              <a:srgbClr val="D8DEEA"/>
            </a:solidFill>
            <a:prstDash val="solid"/>
          </a:ln>
        </p:spPr>
      </p:sp>
      <p:sp>
        <p:nvSpPr>
          <p:cNvPr id="9" name="Text 7"/>
          <p:cNvSpPr txBox="1"/>
          <p:nvPr/>
        </p:nvSpPr>
        <p:spPr>
          <a:xfrm>
            <a:off x="777240" y="2679192"/>
            <a:ext cx="49377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Extraction Engine</a:t>
            </a:r>
            <a:endParaRPr lang="en-US" sz="1400" dirty="0"/>
          </a:p>
        </p:txBody>
      </p:sp>
      <p:sp>
        <p:nvSpPr>
          <p:cNvPr id="10" name="Text 8"/>
          <p:cNvSpPr txBox="1"/>
          <p:nvPr/>
        </p:nvSpPr>
        <p:spPr>
          <a:xfrm>
            <a:off x="777240" y="3008376"/>
            <a:ext cx="4937760" cy="3200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Local pattern engine + optional IBM Bob</a:t>
            </a:r>
            <a:endParaRPr lang="en-US" sz="1150" dirty="0"/>
          </a:p>
        </p:txBody>
      </p:sp>
      <p:sp>
        <p:nvSpPr>
          <p:cNvPr id="11" name="Text 9"/>
          <p:cNvSpPr txBox="1"/>
          <p:nvPr/>
        </p:nvSpPr>
        <p:spPr>
          <a:xfrm>
            <a:off x="3108960" y="3374136"/>
            <a:ext cx="274320" cy="237744"/>
          </a:xfrm>
          <a:prstGeom prst="rect">
            <a:avLst/>
          </a:prstGeom>
          <a:noFill/>
          <a:ln/>
        </p:spPr>
        <p:txBody>
          <a:bodyPr wrap="square" lIns="0" tIns="0" rIns="0" bIns="0"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548640" y="3520440"/>
            <a:ext cx="5394960" cy="786384"/>
          </a:xfrm>
          <a:prstGeom prst="roundRect">
            <a:avLst>
              <a:gd name="adj" fmla="val 8140"/>
            </a:avLst>
          </a:prstGeom>
          <a:solidFill>
            <a:srgbClr val="F4F6FB"/>
          </a:solidFill>
          <a:ln w="12700">
            <a:solidFill>
              <a:srgbClr val="D8DEEA"/>
            </a:solidFill>
            <a:prstDash val="solid"/>
          </a:ln>
        </p:spPr>
      </p:sp>
      <p:sp>
        <p:nvSpPr>
          <p:cNvPr id="13" name="Text 11"/>
          <p:cNvSpPr txBox="1"/>
          <p:nvPr/>
        </p:nvSpPr>
        <p:spPr>
          <a:xfrm>
            <a:off x="777240" y="3593592"/>
            <a:ext cx="49377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Graph &amp; Analysis</a:t>
            </a:r>
            <a:endParaRPr lang="en-US" sz="1400" dirty="0"/>
          </a:p>
        </p:txBody>
      </p:sp>
      <p:sp>
        <p:nvSpPr>
          <p:cNvPr id="14" name="Text 12"/>
          <p:cNvSpPr txBox="1"/>
          <p:nvPr/>
        </p:nvSpPr>
        <p:spPr>
          <a:xfrm>
            <a:off x="777240" y="3922776"/>
            <a:ext cx="4937760" cy="3200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Centrality, kingpin isolation</a:t>
            </a:r>
            <a:endParaRPr lang="en-US" sz="1150" dirty="0"/>
          </a:p>
        </p:txBody>
      </p:sp>
      <p:sp>
        <p:nvSpPr>
          <p:cNvPr id="15" name="Text 13"/>
          <p:cNvSpPr txBox="1"/>
          <p:nvPr/>
        </p:nvSpPr>
        <p:spPr>
          <a:xfrm>
            <a:off x="3108960" y="4288536"/>
            <a:ext cx="274320" cy="237744"/>
          </a:xfrm>
          <a:prstGeom prst="rect">
            <a:avLst/>
          </a:prstGeom>
          <a:noFill/>
          <a:ln/>
        </p:spPr>
        <p:txBody>
          <a:bodyPr wrap="square" lIns="0" tIns="0" rIns="0" bIns="0"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548640" y="4434840"/>
            <a:ext cx="5394960" cy="786384"/>
          </a:xfrm>
          <a:prstGeom prst="roundRect">
            <a:avLst>
              <a:gd name="adj" fmla="val 8140"/>
            </a:avLst>
          </a:prstGeom>
          <a:solidFill>
            <a:srgbClr val="F4F6FB"/>
          </a:solidFill>
          <a:ln w="12700">
            <a:solidFill>
              <a:srgbClr val="D8DEEA"/>
            </a:solidFill>
            <a:prstDash val="solid"/>
          </a:ln>
        </p:spPr>
      </p:sp>
      <p:sp>
        <p:nvSpPr>
          <p:cNvPr id="17" name="Text 15"/>
          <p:cNvSpPr txBox="1"/>
          <p:nvPr/>
        </p:nvSpPr>
        <p:spPr>
          <a:xfrm>
            <a:off x="777240" y="4507992"/>
            <a:ext cx="49377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Supabase / PostgreSQL</a:t>
            </a:r>
            <a:endParaRPr lang="en-US" sz="1400" dirty="0"/>
          </a:p>
        </p:txBody>
      </p:sp>
      <p:sp>
        <p:nvSpPr>
          <p:cNvPr id="18" name="Text 16"/>
          <p:cNvSpPr txBox="1"/>
          <p:nvPr/>
        </p:nvSpPr>
        <p:spPr>
          <a:xfrm>
            <a:off x="777240" y="4837176"/>
            <a:ext cx="4937760" cy="3200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Case and relationship storage</a:t>
            </a:r>
            <a:endParaRPr lang="en-US" sz="1150" dirty="0"/>
          </a:p>
        </p:txBody>
      </p:sp>
      <p:sp>
        <p:nvSpPr>
          <p:cNvPr id="19" name="Text 17"/>
          <p:cNvSpPr txBox="1"/>
          <p:nvPr/>
        </p:nvSpPr>
        <p:spPr>
          <a:xfrm>
            <a:off x="3108960" y="5202936"/>
            <a:ext cx="274320" cy="237744"/>
          </a:xfrm>
          <a:prstGeom prst="rect">
            <a:avLst/>
          </a:prstGeom>
          <a:noFill/>
          <a:ln/>
        </p:spPr>
        <p:txBody>
          <a:bodyPr wrap="square" lIns="0" tIns="0" rIns="0" bIns="0"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548640" y="5349240"/>
            <a:ext cx="5394960" cy="786384"/>
          </a:xfrm>
          <a:prstGeom prst="roundRect">
            <a:avLst>
              <a:gd name="adj" fmla="val 8140"/>
            </a:avLst>
          </a:prstGeom>
          <a:solidFill>
            <a:srgbClr val="F4F6FB"/>
          </a:solidFill>
          <a:ln w="12700">
            <a:solidFill>
              <a:srgbClr val="D8DEEA"/>
            </a:solidFill>
            <a:prstDash val="solid"/>
          </a:ln>
        </p:spPr>
      </p:sp>
      <p:sp>
        <p:nvSpPr>
          <p:cNvPr id="21" name="Text 19"/>
          <p:cNvSpPr txBox="1"/>
          <p:nvPr/>
        </p:nvSpPr>
        <p:spPr>
          <a:xfrm>
            <a:off x="777240" y="5422392"/>
            <a:ext cx="49377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Case Brief Generator</a:t>
            </a:r>
            <a:endParaRPr lang="en-US" sz="1400" dirty="0"/>
          </a:p>
        </p:txBody>
      </p:sp>
      <p:sp>
        <p:nvSpPr>
          <p:cNvPr id="22" name="Text 20"/>
          <p:cNvSpPr txBox="1"/>
          <p:nvPr/>
        </p:nvSpPr>
        <p:spPr>
          <a:xfrm>
            <a:off x="777240" y="5751576"/>
            <a:ext cx="4937760" cy="3200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Statutes + recommended actions</a:t>
            </a:r>
            <a:endParaRPr lang="en-US" sz="1150" dirty="0"/>
          </a:p>
        </p:txBody>
      </p:sp>
      <p:sp>
        <p:nvSpPr>
          <p:cNvPr id="23" name="Text 21"/>
          <p:cNvSpPr txBox="1"/>
          <p:nvPr/>
        </p:nvSpPr>
        <p:spPr>
          <a:xfrm>
            <a:off x="6309360" y="1691640"/>
            <a:ext cx="534924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Key technical highlights</a:t>
            </a:r>
            <a:endParaRPr lang="en-US" sz="1500" dirty="0"/>
          </a:p>
        </p:txBody>
      </p:sp>
      <p:sp>
        <p:nvSpPr>
          <p:cNvPr id="24" name="Shape 22"/>
          <p:cNvSpPr/>
          <p:nvPr/>
        </p:nvSpPr>
        <p:spPr>
          <a:xfrm>
            <a:off x="6309360" y="2203704"/>
            <a:ext cx="91440" cy="91440"/>
          </a:xfrm>
          <a:prstGeom prst="ellipse">
            <a:avLst/>
          </a:prstGeom>
          <a:solidFill>
            <a:srgbClr val="E4572E"/>
          </a:solidFill>
          <a:ln w="12700">
            <a:solidFill>
              <a:srgbClr val="E4572E"/>
            </a:solidFill>
            <a:prstDash val="solid"/>
          </a:ln>
        </p:spPr>
      </p:sp>
      <p:sp>
        <p:nvSpPr>
          <p:cNvPr id="25" name="Text 23"/>
          <p:cNvSpPr txBox="1"/>
          <p:nvPr/>
        </p:nvSpPr>
        <p:spPr>
          <a:xfrm>
            <a:off x="6583680" y="2075688"/>
            <a:ext cx="5074920" cy="685800"/>
          </a:xfrm>
          <a:prstGeom prst="rect">
            <a:avLst/>
          </a:prstGeom>
          <a:noFill/>
          <a:ln/>
        </p:spPr>
        <p:txBody>
          <a:bodyPr wrap="square" lIns="0" tIns="0" rIns="0" bIns="0" rtlCol="0" anchor="ctr"/>
          <a:lstStyle/>
          <a:p>
            <a:pPr indent="0" marL="0">
              <a:lnSpc>
                <a:spcPts val="1600"/>
              </a:lnSpc>
              <a:buNone/>
            </a:pPr>
            <a:r>
              <a:rPr lang="en-US" sz="1250" dirty="0">
                <a:solidFill>
                  <a:srgbClr val="1A1A2E"/>
                </a:solidFill>
                <a:latin typeface="Calibri" pitchFamily="34" charset="0"/>
                <a:ea typeface="Calibri" pitchFamily="34" charset="-122"/>
                <a:cs typeface="Calibri" pitchFamily="34" charset="-120"/>
              </a:rPr>
              <a:t>Works fully offline: the local extraction engine needs no external service to identify entities.</a:t>
            </a:r>
            <a:endParaRPr lang="en-US" sz="1250" dirty="0"/>
          </a:p>
        </p:txBody>
      </p:sp>
      <p:sp>
        <p:nvSpPr>
          <p:cNvPr id="26" name="Shape 24"/>
          <p:cNvSpPr/>
          <p:nvPr/>
        </p:nvSpPr>
        <p:spPr>
          <a:xfrm>
            <a:off x="6309360" y="2962656"/>
            <a:ext cx="91440" cy="91440"/>
          </a:xfrm>
          <a:prstGeom prst="ellipse">
            <a:avLst/>
          </a:prstGeom>
          <a:solidFill>
            <a:srgbClr val="E4572E"/>
          </a:solidFill>
          <a:ln w="12700">
            <a:solidFill>
              <a:srgbClr val="E4572E"/>
            </a:solidFill>
            <a:prstDash val="solid"/>
          </a:ln>
        </p:spPr>
      </p:sp>
      <p:sp>
        <p:nvSpPr>
          <p:cNvPr id="27" name="Text 25"/>
          <p:cNvSpPr txBox="1"/>
          <p:nvPr/>
        </p:nvSpPr>
        <p:spPr>
          <a:xfrm>
            <a:off x="6583680" y="2834640"/>
            <a:ext cx="5074920" cy="685800"/>
          </a:xfrm>
          <a:prstGeom prst="rect">
            <a:avLst/>
          </a:prstGeom>
          <a:noFill/>
          <a:ln/>
        </p:spPr>
        <p:txBody>
          <a:bodyPr wrap="square" lIns="0" tIns="0" rIns="0" bIns="0" rtlCol="0" anchor="ctr"/>
          <a:lstStyle/>
          <a:p>
            <a:pPr indent="0" marL="0">
              <a:lnSpc>
                <a:spcPts val="1600"/>
              </a:lnSpc>
              <a:buNone/>
            </a:pPr>
            <a:r>
              <a:rPr lang="en-US" sz="1250" dirty="0">
                <a:solidFill>
                  <a:srgbClr val="1A1A2E"/>
                </a:solidFill>
                <a:latin typeface="Calibri" pitchFamily="34" charset="0"/>
                <a:ea typeface="Calibri" pitchFamily="34" charset="-122"/>
                <a:cs typeface="Calibri" pitchFamily="34" charset="-120"/>
              </a:rPr>
              <a:t>Automatic fallback: if the AI extraction path is unavailable, the app quietly switches to the local engine.</a:t>
            </a:r>
            <a:endParaRPr lang="en-US" sz="1250" dirty="0"/>
          </a:p>
        </p:txBody>
      </p:sp>
      <p:sp>
        <p:nvSpPr>
          <p:cNvPr id="28" name="Shape 26"/>
          <p:cNvSpPr/>
          <p:nvPr/>
        </p:nvSpPr>
        <p:spPr>
          <a:xfrm>
            <a:off x="6309360" y="3721608"/>
            <a:ext cx="91440" cy="91440"/>
          </a:xfrm>
          <a:prstGeom prst="ellipse">
            <a:avLst/>
          </a:prstGeom>
          <a:solidFill>
            <a:srgbClr val="E4572E"/>
          </a:solidFill>
          <a:ln w="12700">
            <a:solidFill>
              <a:srgbClr val="E4572E"/>
            </a:solidFill>
            <a:prstDash val="solid"/>
          </a:ln>
        </p:spPr>
      </p:sp>
      <p:sp>
        <p:nvSpPr>
          <p:cNvPr id="29" name="Text 27"/>
          <p:cNvSpPr txBox="1"/>
          <p:nvPr/>
        </p:nvSpPr>
        <p:spPr>
          <a:xfrm>
            <a:off x="6583680" y="3593592"/>
            <a:ext cx="5074920" cy="685800"/>
          </a:xfrm>
          <a:prstGeom prst="rect">
            <a:avLst/>
          </a:prstGeom>
          <a:noFill/>
          <a:ln/>
        </p:spPr>
        <p:txBody>
          <a:bodyPr wrap="square" lIns="0" tIns="0" rIns="0" bIns="0" rtlCol="0" anchor="ctr"/>
          <a:lstStyle/>
          <a:p>
            <a:pPr indent="0" marL="0">
              <a:lnSpc>
                <a:spcPts val="1600"/>
              </a:lnSpc>
              <a:buNone/>
            </a:pPr>
            <a:r>
              <a:rPr lang="en-US" sz="1250" dirty="0">
                <a:solidFill>
                  <a:srgbClr val="1A1A2E"/>
                </a:solidFill>
                <a:latin typeface="Calibri" pitchFamily="34" charset="0"/>
                <a:ea typeface="Calibri" pitchFamily="34" charset="-122"/>
                <a:cs typeface="Calibri" pitchFamily="34" charset="-120"/>
              </a:rPr>
              <a:t>Kingpin isolation: node-degree centrality flags the entity most central to the network.</a:t>
            </a:r>
            <a:endParaRPr lang="en-US" sz="1250" dirty="0"/>
          </a:p>
        </p:txBody>
      </p:sp>
      <p:sp>
        <p:nvSpPr>
          <p:cNvPr id="30" name="Shape 28"/>
          <p:cNvSpPr/>
          <p:nvPr/>
        </p:nvSpPr>
        <p:spPr>
          <a:xfrm>
            <a:off x="6309360" y="4480560"/>
            <a:ext cx="91440" cy="91440"/>
          </a:xfrm>
          <a:prstGeom prst="ellipse">
            <a:avLst/>
          </a:prstGeom>
          <a:solidFill>
            <a:srgbClr val="E4572E"/>
          </a:solidFill>
          <a:ln w="12700">
            <a:solidFill>
              <a:srgbClr val="E4572E"/>
            </a:solidFill>
            <a:prstDash val="solid"/>
          </a:ln>
        </p:spPr>
      </p:sp>
      <p:sp>
        <p:nvSpPr>
          <p:cNvPr id="31" name="Text 29"/>
          <p:cNvSpPr txBox="1"/>
          <p:nvPr/>
        </p:nvSpPr>
        <p:spPr>
          <a:xfrm>
            <a:off x="6583680" y="4352544"/>
            <a:ext cx="5074920" cy="685800"/>
          </a:xfrm>
          <a:prstGeom prst="rect">
            <a:avLst/>
          </a:prstGeom>
          <a:noFill/>
          <a:ln/>
        </p:spPr>
        <p:txBody>
          <a:bodyPr wrap="square" lIns="0" tIns="0" rIns="0" bIns="0" rtlCol="0" anchor="ctr"/>
          <a:lstStyle/>
          <a:p>
            <a:pPr indent="0" marL="0">
              <a:lnSpc>
                <a:spcPts val="1600"/>
              </a:lnSpc>
              <a:buNone/>
            </a:pPr>
            <a:r>
              <a:rPr lang="en-US" sz="1250" dirty="0">
                <a:solidFill>
                  <a:srgbClr val="1A1A2E"/>
                </a:solidFill>
                <a:latin typeface="Calibri" pitchFamily="34" charset="0"/>
                <a:ea typeface="Calibri" pitchFamily="34" charset="-122"/>
                <a:cs typeface="Calibri" pitchFamily="34" charset="-120"/>
              </a:rPr>
              <a:t>Pattern detection: automatically labels the case as, for example, SIM-swap or a UPI mule network.</a:t>
            </a:r>
            <a:endParaRPr lang="en-US" sz="1250" dirty="0"/>
          </a:p>
        </p:txBody>
      </p:sp>
      <p:sp>
        <p:nvSpPr>
          <p:cNvPr id="32" name="Shape 30"/>
          <p:cNvSpPr/>
          <p:nvPr/>
        </p:nvSpPr>
        <p:spPr>
          <a:xfrm>
            <a:off x="6309360" y="5239512"/>
            <a:ext cx="91440" cy="91440"/>
          </a:xfrm>
          <a:prstGeom prst="ellipse">
            <a:avLst/>
          </a:prstGeom>
          <a:solidFill>
            <a:srgbClr val="E4572E"/>
          </a:solidFill>
          <a:ln w="12700">
            <a:solidFill>
              <a:srgbClr val="E4572E"/>
            </a:solidFill>
            <a:prstDash val="solid"/>
          </a:ln>
        </p:spPr>
      </p:sp>
      <p:sp>
        <p:nvSpPr>
          <p:cNvPr id="33" name="Text 31"/>
          <p:cNvSpPr txBox="1"/>
          <p:nvPr/>
        </p:nvSpPr>
        <p:spPr>
          <a:xfrm>
            <a:off x="6583680" y="5111496"/>
            <a:ext cx="5074920" cy="685800"/>
          </a:xfrm>
          <a:prstGeom prst="rect">
            <a:avLst/>
          </a:prstGeom>
          <a:noFill/>
          <a:ln/>
        </p:spPr>
        <p:txBody>
          <a:bodyPr wrap="square" lIns="0" tIns="0" rIns="0" bIns="0" rtlCol="0" anchor="ctr"/>
          <a:lstStyle/>
          <a:p>
            <a:pPr indent="0" marL="0">
              <a:lnSpc>
                <a:spcPts val="1600"/>
              </a:lnSpc>
              <a:buNone/>
            </a:pPr>
            <a:r>
              <a:rPr lang="en-US" sz="1250" dirty="0">
                <a:solidFill>
                  <a:srgbClr val="1A1A2E"/>
                </a:solidFill>
                <a:latin typeface="Calibri" pitchFamily="34" charset="0"/>
                <a:ea typeface="Calibri" pitchFamily="34" charset="-122"/>
                <a:cs typeface="Calibri" pitchFamily="34" charset="-120"/>
              </a:rPr>
              <a:t>Output is FIR-ready: brief includes statutes (IT Act, Indian Evidence Act, BNS) and next actions.</a:t>
            </a:r>
            <a:endParaRPr lang="en-US" sz="1250" dirty="0"/>
          </a:p>
        </p:txBody>
      </p:sp>
      <p:sp>
        <p:nvSpPr>
          <p:cNvPr id="34" name="Text 32"/>
          <p:cNvSpPr txBox="1"/>
          <p:nvPr/>
        </p:nvSpPr>
        <p:spPr>
          <a:xfrm>
            <a:off x="548640" y="6400800"/>
            <a:ext cx="5486400" cy="320040"/>
          </a:xfrm>
          <a:prstGeom prst="rect">
            <a:avLst/>
          </a:prstGeom>
          <a:noFill/>
          <a:ln/>
        </p:spPr>
        <p:txBody>
          <a:bodyPr wrap="square" lIns="0" tIns="0" rIns="0" bIns="0" rtlCol="0" anchor="ctr"/>
          <a:lstStyle/>
          <a:p>
            <a:pPr algn="l" indent="0" marL="0">
              <a:buNone/>
            </a:pPr>
            <a:r>
              <a:rPr lang="en-US" sz="1000" dirty="0">
                <a:solidFill>
                  <a:srgbClr val="A6ADC2"/>
                </a:solidFill>
                <a:latin typeface="Calibri" pitchFamily="34" charset="0"/>
                <a:ea typeface="Calibri" pitchFamily="34" charset="-122"/>
                <a:cs typeface="Calibri" pitchFamily="34" charset="-120"/>
              </a:rPr>
              <a:t>ChakraView  •  IBM x NFSU Hackathon</a:t>
            </a:r>
            <a:endParaRPr lang="en-US" sz="1000" dirty="0"/>
          </a:p>
        </p:txBody>
      </p:sp>
      <p:sp>
        <p:nvSpPr>
          <p:cNvPr id="35" name="Text 33"/>
          <p:cNvSpPr txBox="1"/>
          <p:nvPr/>
        </p:nvSpPr>
        <p:spPr>
          <a:xfrm>
            <a:off x="11365992" y="6400800"/>
            <a:ext cx="548640" cy="320040"/>
          </a:xfrm>
          <a:prstGeom prst="rect">
            <a:avLst/>
          </a:prstGeom>
          <a:noFill/>
          <a:ln/>
        </p:spPr>
        <p:txBody>
          <a:bodyPr wrap="square" lIns="0" tIns="0" rIns="0" bIns="0" rtlCol="0" anchor="ctr"/>
          <a:lstStyle/>
          <a:p>
            <a:pPr algn="r" indent="0" marL="0">
              <a:buNone/>
            </a:pPr>
            <a:r>
              <a:rPr lang="en-US" sz="1000" dirty="0">
                <a:solidFill>
                  <a:srgbClr val="A6ADC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algn="l" indent="0" marL="0">
              <a:buNone/>
            </a:pPr>
            <a:r>
              <a:rPr lang="en-US" sz="1300" b="1" spc="200" kern="0" dirty="0">
                <a:solidFill>
                  <a:srgbClr val="E4572E"/>
                </a:solidFill>
                <a:latin typeface="Calibri" pitchFamily="34" charset="0"/>
                <a:ea typeface="Calibri" pitchFamily="34" charset="-122"/>
                <a:cs typeface="Calibri" pitchFamily="34" charset="-120"/>
              </a:rPr>
              <a:t>IBM TECHNOLOGY INTEGRATION</a:t>
            </a:r>
            <a:endParaRPr lang="en-US" sz="1300" dirty="0"/>
          </a:p>
        </p:txBody>
      </p:sp>
      <p:sp>
        <p:nvSpPr>
          <p:cNvPr id="3" name="Text 1"/>
          <p:cNvSpPr txBox="1"/>
          <p:nvPr/>
        </p:nvSpPr>
        <p:spPr>
          <a:xfrm>
            <a:off x="548640" y="713232"/>
            <a:ext cx="10607040" cy="54864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IBM Bob, with data privacy built in from day one</a:t>
            </a:r>
            <a:endParaRPr lang="en-US" sz="2800" dirty="0"/>
          </a:p>
        </p:txBody>
      </p:sp>
      <p:sp>
        <p:nvSpPr>
          <p:cNvPr id="4" name="Text 2"/>
          <p:cNvSpPr txBox="1"/>
          <p:nvPr/>
        </p:nvSpPr>
        <p:spPr>
          <a:xfrm>
            <a:off x="548640" y="1417320"/>
            <a:ext cx="10607040" cy="68580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The Bob API is integrated as an optional extraction path: a Supabase edge function sends case text to Bob and receives back the same structured entity and relationship shape the local engine produces. Privacy was treated as an architecture requirement, not an afterthought, across three layers.</a:t>
            </a:r>
            <a:endParaRPr lang="en-US" sz="1300" dirty="0"/>
          </a:p>
        </p:txBody>
      </p:sp>
      <p:sp>
        <p:nvSpPr>
          <p:cNvPr id="5" name="Shape 3"/>
          <p:cNvSpPr/>
          <p:nvPr/>
        </p:nvSpPr>
        <p:spPr>
          <a:xfrm>
            <a:off x="548640" y="2331720"/>
            <a:ext cx="3383280" cy="3246120"/>
          </a:xfrm>
          <a:prstGeom prst="roundRect">
            <a:avLst>
              <a:gd name="adj" fmla="val 2535"/>
            </a:avLst>
          </a:prstGeom>
          <a:solidFill>
            <a:srgbClr val="F4F6FB"/>
          </a:solidFill>
          <a:ln w="12700">
            <a:solidFill>
              <a:srgbClr val="D8DEEA"/>
            </a:solidFill>
            <a:prstDash val="solid"/>
          </a:ln>
        </p:spPr>
      </p:sp>
      <p:sp>
        <p:nvSpPr>
          <p:cNvPr id="6" name="Shape 4"/>
          <p:cNvSpPr/>
          <p:nvPr/>
        </p:nvSpPr>
        <p:spPr>
          <a:xfrm>
            <a:off x="804672" y="2587752"/>
            <a:ext cx="420624" cy="420624"/>
          </a:xfrm>
          <a:prstGeom prst="ellipse">
            <a:avLst/>
          </a:prstGeom>
          <a:solidFill>
            <a:srgbClr val="1E2761"/>
          </a:solidFill>
          <a:ln w="12700">
            <a:solidFill>
              <a:srgbClr val="1E2761"/>
            </a:solidFill>
            <a:prstDash val="solid"/>
          </a:ln>
        </p:spPr>
      </p:sp>
      <p:sp>
        <p:nvSpPr>
          <p:cNvPr id="7" name="Text 5"/>
          <p:cNvSpPr txBox="1"/>
          <p:nvPr/>
        </p:nvSpPr>
        <p:spPr>
          <a:xfrm>
            <a:off x="804672" y="258775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804672" y="3200400"/>
            <a:ext cx="2871216" cy="5029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No global storage</a:t>
            </a:r>
            <a:endParaRPr lang="en-US" sz="1450" dirty="0"/>
          </a:p>
        </p:txBody>
      </p:sp>
      <p:sp>
        <p:nvSpPr>
          <p:cNvPr id="9" name="Text 7"/>
          <p:cNvSpPr txBox="1"/>
          <p:nvPr/>
        </p:nvSpPr>
        <p:spPr>
          <a:xfrm>
            <a:off x="804672" y="3703320"/>
            <a:ext cx="2871216" cy="1691640"/>
          </a:xfrm>
          <a:prstGeom prst="rect">
            <a:avLst/>
          </a:prstGeom>
          <a:noFill/>
          <a:ln/>
        </p:spPr>
        <p:txBody>
          <a:bodyPr wrap="square" lIns="0" tIns="0" rIns="0" bIns="0" rtlCol="0" anchor="ctr"/>
          <a:lstStyle/>
          <a:p>
            <a:pPr indent="0" marL="0">
              <a:lnSpc>
                <a:spcPts val="1550"/>
              </a:lnSpc>
              <a:buNone/>
            </a:pPr>
            <a:r>
              <a:rPr lang="en-US" sz="1150" dirty="0">
                <a:solidFill>
                  <a:srgbClr val="1A1A2E"/>
                </a:solidFill>
                <a:latin typeface="Calibri" pitchFamily="34" charset="0"/>
                <a:ea typeface="Calibri" pitchFamily="34" charset="-122"/>
                <a:cs typeface="Calibri" pitchFamily="34" charset="-120"/>
              </a:rPr>
              <a:t>Requests run as a stateless, in-memory execution loop. Raw text is used only to produce the JSON graph shape, then discarded immediately, and is never used to train any global model.</a:t>
            </a:r>
            <a:endParaRPr lang="en-US" sz="1150" dirty="0"/>
          </a:p>
        </p:txBody>
      </p:sp>
      <p:sp>
        <p:nvSpPr>
          <p:cNvPr id="10" name="Shape 8"/>
          <p:cNvSpPr/>
          <p:nvPr/>
        </p:nvSpPr>
        <p:spPr>
          <a:xfrm>
            <a:off x="4160520" y="2331720"/>
            <a:ext cx="3383280" cy="3246120"/>
          </a:xfrm>
          <a:prstGeom prst="roundRect">
            <a:avLst>
              <a:gd name="adj" fmla="val 2535"/>
            </a:avLst>
          </a:prstGeom>
          <a:solidFill>
            <a:srgbClr val="F4F6FB"/>
          </a:solidFill>
          <a:ln w="12700">
            <a:solidFill>
              <a:srgbClr val="D8DEEA"/>
            </a:solidFill>
            <a:prstDash val="solid"/>
          </a:ln>
        </p:spPr>
      </p:sp>
      <p:sp>
        <p:nvSpPr>
          <p:cNvPr id="11" name="Shape 9"/>
          <p:cNvSpPr/>
          <p:nvPr/>
        </p:nvSpPr>
        <p:spPr>
          <a:xfrm>
            <a:off x="4416552" y="2587752"/>
            <a:ext cx="420624" cy="420624"/>
          </a:xfrm>
          <a:prstGeom prst="ellipse">
            <a:avLst/>
          </a:prstGeom>
          <a:solidFill>
            <a:srgbClr val="1E2761"/>
          </a:solidFill>
          <a:ln w="12700">
            <a:solidFill>
              <a:srgbClr val="1E2761"/>
            </a:solidFill>
            <a:prstDash val="solid"/>
          </a:ln>
        </p:spPr>
      </p:sp>
      <p:sp>
        <p:nvSpPr>
          <p:cNvPr id="12" name="Text 10"/>
          <p:cNvSpPr txBox="1"/>
          <p:nvPr/>
        </p:nvSpPr>
        <p:spPr>
          <a:xfrm>
            <a:off x="4416552" y="258775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4416552" y="3200400"/>
            <a:ext cx="2871216" cy="5029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Secure server-side bridging</a:t>
            </a:r>
            <a:endParaRPr lang="en-US" sz="1450" dirty="0"/>
          </a:p>
        </p:txBody>
      </p:sp>
      <p:sp>
        <p:nvSpPr>
          <p:cNvPr id="14" name="Text 12"/>
          <p:cNvSpPr txBox="1"/>
          <p:nvPr/>
        </p:nvSpPr>
        <p:spPr>
          <a:xfrm>
            <a:off x="4416552" y="3703320"/>
            <a:ext cx="2871216" cy="1691640"/>
          </a:xfrm>
          <a:prstGeom prst="rect">
            <a:avLst/>
          </a:prstGeom>
          <a:noFill/>
          <a:ln/>
        </p:spPr>
        <p:txBody>
          <a:bodyPr wrap="square" lIns="0" tIns="0" rIns="0" bIns="0" rtlCol="0" anchor="ctr"/>
          <a:lstStyle/>
          <a:p>
            <a:pPr indent="0" marL="0">
              <a:lnSpc>
                <a:spcPts val="1550"/>
              </a:lnSpc>
              <a:buNone/>
            </a:pPr>
            <a:r>
              <a:rPr lang="en-US" sz="1150" dirty="0">
                <a:solidFill>
                  <a:srgbClr val="1A1A2E"/>
                </a:solidFill>
                <a:latin typeface="Calibri" pitchFamily="34" charset="0"/>
                <a:ea typeface="Calibri" pitchFamily="34" charset="-122"/>
                <a:cs typeface="Calibri" pitchFamily="34" charset="-120"/>
              </a:rPr>
              <a:t>The browser never holds the API key. All traffic is routed through a server-side function, which blocks key exposure and lets data be filtered, masked or anonymized before it ever leaves the perimeter.</a:t>
            </a:r>
            <a:endParaRPr lang="en-US" sz="1150" dirty="0"/>
          </a:p>
        </p:txBody>
      </p:sp>
      <p:sp>
        <p:nvSpPr>
          <p:cNvPr id="15" name="Shape 13"/>
          <p:cNvSpPr/>
          <p:nvPr/>
        </p:nvSpPr>
        <p:spPr>
          <a:xfrm>
            <a:off x="7772400" y="2331720"/>
            <a:ext cx="3383280" cy="3246120"/>
          </a:xfrm>
          <a:prstGeom prst="roundRect">
            <a:avLst>
              <a:gd name="adj" fmla="val 2535"/>
            </a:avLst>
          </a:prstGeom>
          <a:solidFill>
            <a:srgbClr val="F4F6FB"/>
          </a:solidFill>
          <a:ln w="12700">
            <a:solidFill>
              <a:srgbClr val="D8DEEA"/>
            </a:solidFill>
            <a:prstDash val="solid"/>
          </a:ln>
        </p:spPr>
      </p:sp>
      <p:sp>
        <p:nvSpPr>
          <p:cNvPr id="16" name="Shape 14"/>
          <p:cNvSpPr/>
          <p:nvPr/>
        </p:nvSpPr>
        <p:spPr>
          <a:xfrm>
            <a:off x="8028432" y="2587752"/>
            <a:ext cx="420624" cy="420624"/>
          </a:xfrm>
          <a:prstGeom prst="ellipse">
            <a:avLst/>
          </a:prstGeom>
          <a:solidFill>
            <a:srgbClr val="1E2761"/>
          </a:solidFill>
          <a:ln w="12700">
            <a:solidFill>
              <a:srgbClr val="1E2761"/>
            </a:solidFill>
            <a:prstDash val="solid"/>
          </a:ln>
        </p:spPr>
      </p:sp>
      <p:sp>
        <p:nvSpPr>
          <p:cNvPr id="17" name="Text 15"/>
          <p:cNvSpPr txBox="1"/>
          <p:nvPr/>
        </p:nvSpPr>
        <p:spPr>
          <a:xfrm>
            <a:off x="8028432" y="258775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8028432" y="3200400"/>
            <a:ext cx="2871216" cy="5029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On-premise deployment path</a:t>
            </a:r>
            <a:endParaRPr lang="en-US" sz="1450" dirty="0"/>
          </a:p>
        </p:txBody>
      </p:sp>
      <p:sp>
        <p:nvSpPr>
          <p:cNvPr id="19" name="Text 17"/>
          <p:cNvSpPr txBox="1"/>
          <p:nvPr/>
        </p:nvSpPr>
        <p:spPr>
          <a:xfrm>
            <a:off x="8028432" y="3703320"/>
            <a:ext cx="2871216" cy="1691640"/>
          </a:xfrm>
          <a:prstGeom prst="rect">
            <a:avLst/>
          </a:prstGeom>
          <a:noFill/>
          <a:ln/>
        </p:spPr>
        <p:txBody>
          <a:bodyPr wrap="square" lIns="0" tIns="0" rIns="0" bIns="0" rtlCol="0" anchor="ctr"/>
          <a:lstStyle/>
          <a:p>
            <a:pPr indent="0" marL="0">
              <a:lnSpc>
                <a:spcPts val="1550"/>
              </a:lnSpc>
              <a:buNone/>
            </a:pPr>
            <a:r>
              <a:rPr lang="en-US" sz="1150" dirty="0">
                <a:solidFill>
                  <a:srgbClr val="1A1A2E"/>
                </a:solidFill>
                <a:latin typeface="Calibri" pitchFamily="34" charset="0"/>
                <a:ea typeface="Calibri" pitchFamily="34" charset="-122"/>
                <a:cs typeface="Calibri" pitchFamily="34" charset="-120"/>
              </a:rPr>
              <a:t>For a production rollout to Indian law enforcement, the same architecture supports deploying the Bob inference model entirely on-premise, on government servers or a secure national cloud such as NIC, for full data residency under the DPDP Act.</a:t>
            </a:r>
            <a:endParaRPr lang="en-US" sz="1150" dirty="0"/>
          </a:p>
        </p:txBody>
      </p:sp>
      <p:sp>
        <p:nvSpPr>
          <p:cNvPr id="20" name="Text 18"/>
          <p:cNvSpPr txBox="1"/>
          <p:nvPr/>
        </p:nvSpPr>
        <p:spPr>
          <a:xfrm>
            <a:off x="548640" y="6400800"/>
            <a:ext cx="5486400" cy="320040"/>
          </a:xfrm>
          <a:prstGeom prst="rect">
            <a:avLst/>
          </a:prstGeom>
          <a:noFill/>
          <a:ln/>
        </p:spPr>
        <p:txBody>
          <a:bodyPr wrap="square" lIns="0" tIns="0" rIns="0" bIns="0" rtlCol="0" anchor="ctr"/>
          <a:lstStyle/>
          <a:p>
            <a:pPr algn="l" indent="0" marL="0">
              <a:buNone/>
            </a:pPr>
            <a:r>
              <a:rPr lang="en-US" sz="1000" dirty="0">
                <a:solidFill>
                  <a:srgbClr val="A6ADC2"/>
                </a:solidFill>
                <a:latin typeface="Calibri" pitchFamily="34" charset="0"/>
                <a:ea typeface="Calibri" pitchFamily="34" charset="-122"/>
                <a:cs typeface="Calibri" pitchFamily="34" charset="-120"/>
              </a:rPr>
              <a:t>ChakraView  •  IBM x NFSU Hackathon</a:t>
            </a:r>
            <a:endParaRPr lang="en-US" sz="1000" dirty="0"/>
          </a:p>
        </p:txBody>
      </p:sp>
      <p:sp>
        <p:nvSpPr>
          <p:cNvPr id="21" name="Text 19"/>
          <p:cNvSpPr txBox="1"/>
          <p:nvPr/>
        </p:nvSpPr>
        <p:spPr>
          <a:xfrm>
            <a:off x="11365992" y="6400800"/>
            <a:ext cx="548640" cy="320040"/>
          </a:xfrm>
          <a:prstGeom prst="rect">
            <a:avLst/>
          </a:prstGeom>
          <a:noFill/>
          <a:ln/>
        </p:spPr>
        <p:txBody>
          <a:bodyPr wrap="square" lIns="0" tIns="0" rIns="0" bIns="0" rtlCol="0" anchor="ctr"/>
          <a:lstStyle/>
          <a:p>
            <a:pPr algn="r" indent="0" marL="0">
              <a:buNone/>
            </a:pPr>
            <a:r>
              <a:rPr lang="en-US" sz="1000" dirty="0">
                <a:solidFill>
                  <a:srgbClr val="A6ADC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algn="l" indent="0" marL="0">
              <a:buNone/>
            </a:pPr>
            <a:r>
              <a:rPr lang="en-US" sz="1300" b="1" spc="200" kern="0" dirty="0">
                <a:solidFill>
                  <a:srgbClr val="CADCFC"/>
                </a:solidFill>
                <a:latin typeface="Calibri" pitchFamily="34" charset="0"/>
                <a:ea typeface="Calibri" pitchFamily="34" charset="-122"/>
                <a:cs typeface="Calibri" pitchFamily="34" charset="-120"/>
              </a:rPr>
              <a:t>IMPACT</a:t>
            </a:r>
            <a:endParaRPr lang="en-US" sz="1300" dirty="0"/>
          </a:p>
        </p:txBody>
      </p:sp>
      <p:sp>
        <p:nvSpPr>
          <p:cNvPr id="3" name="Text 1"/>
          <p:cNvSpPr txBox="1"/>
          <p:nvPr/>
        </p:nvSpPr>
        <p:spPr>
          <a:xfrm>
            <a:off x="548640" y="713232"/>
            <a:ext cx="1060704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Beyond the hackathon</a:t>
            </a:r>
            <a:endParaRPr lang="en-US" sz="3600" dirty="0"/>
          </a:p>
        </p:txBody>
      </p:sp>
      <p:sp>
        <p:nvSpPr>
          <p:cNvPr id="4" name="Text 2"/>
          <p:cNvSpPr txBox="1"/>
          <p:nvPr/>
        </p:nvSpPr>
        <p:spPr>
          <a:xfrm>
            <a:off x="548640" y="1554480"/>
            <a:ext cx="960120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The same architecture that runs offline on a laptop today is designed to scale into a standing tool for cyber cells across the country.</a:t>
            </a:r>
            <a:endParaRPr lang="en-US" sz="1400" dirty="0"/>
          </a:p>
        </p:txBody>
      </p:sp>
      <p:sp>
        <p:nvSpPr>
          <p:cNvPr id="5" name="Shape 3"/>
          <p:cNvSpPr/>
          <p:nvPr/>
        </p:nvSpPr>
        <p:spPr>
          <a:xfrm>
            <a:off x="548640" y="2423160"/>
            <a:ext cx="5074920" cy="1828800"/>
          </a:xfrm>
          <a:prstGeom prst="roundRect">
            <a:avLst>
              <a:gd name="adj" fmla="val 4000"/>
            </a:avLst>
          </a:prstGeom>
          <a:solidFill>
            <a:srgbClr val="26307A"/>
          </a:solidFill>
          <a:ln w="12700">
            <a:solidFill>
              <a:srgbClr val="39447A"/>
            </a:solidFill>
            <a:prstDash val="solid"/>
          </a:ln>
        </p:spPr>
      </p:sp>
      <p:sp>
        <p:nvSpPr>
          <p:cNvPr id="6" name="Shape 4"/>
          <p:cNvSpPr/>
          <p:nvPr/>
        </p:nvSpPr>
        <p:spPr>
          <a:xfrm>
            <a:off x="804672" y="2679192"/>
            <a:ext cx="384048" cy="384048"/>
          </a:xfrm>
          <a:prstGeom prst="ellipse">
            <a:avLst/>
          </a:prstGeom>
          <a:solidFill>
            <a:srgbClr val="E4572E"/>
          </a:solidFill>
          <a:ln w="12700">
            <a:solidFill>
              <a:srgbClr val="E4572E"/>
            </a:solidFill>
            <a:prstDash val="solid"/>
          </a:ln>
        </p:spPr>
      </p:sp>
      <p:sp>
        <p:nvSpPr>
          <p:cNvPr id="7" name="Text 5"/>
          <p:cNvSpPr txBox="1"/>
          <p:nvPr/>
        </p:nvSpPr>
        <p:spPr>
          <a:xfrm>
            <a:off x="804672" y="2679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371600" y="2624328"/>
            <a:ext cx="402336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Live data feeds</a:t>
            </a:r>
            <a:endParaRPr lang="en-US" sz="1450" dirty="0"/>
          </a:p>
        </p:txBody>
      </p:sp>
      <p:sp>
        <p:nvSpPr>
          <p:cNvPr id="9" name="Text 7"/>
          <p:cNvSpPr txBox="1"/>
          <p:nvPr/>
        </p:nvSpPr>
        <p:spPr>
          <a:xfrm>
            <a:off x="804672" y="3200400"/>
            <a:ext cx="4562856" cy="914400"/>
          </a:xfrm>
          <a:prstGeom prst="rect">
            <a:avLst/>
          </a:prstGeom>
          <a:noFill/>
          <a:ln/>
        </p:spPr>
        <p:txBody>
          <a:bodyPr wrap="square" lIns="0" tIns="0" rIns="0" bIns="0" rtlCol="0" anchor="ctr"/>
          <a:lstStyle/>
          <a:p>
            <a:pPr indent="0" marL="0">
              <a:lnSpc>
                <a:spcPts val="1550"/>
              </a:lnSpc>
              <a:buNone/>
            </a:pPr>
            <a:r>
              <a:rPr lang="en-US" sz="1200" dirty="0">
                <a:solidFill>
                  <a:srgbClr val="C7CEE8"/>
                </a:solidFill>
                <a:latin typeface="Calibri" pitchFamily="34" charset="0"/>
                <a:ea typeface="Calibri" pitchFamily="34" charset="-122"/>
                <a:cs typeface="Calibri" pitchFamily="34" charset="-120"/>
              </a:rPr>
              <a:t>Move from batch file uploads to secure, permissioned hooks into telecom and banking data streams.</a:t>
            </a:r>
            <a:endParaRPr lang="en-US" sz="1200" dirty="0"/>
          </a:p>
        </p:txBody>
      </p:sp>
      <p:sp>
        <p:nvSpPr>
          <p:cNvPr id="10" name="Shape 8"/>
          <p:cNvSpPr/>
          <p:nvPr/>
        </p:nvSpPr>
        <p:spPr>
          <a:xfrm>
            <a:off x="5943600" y="2423160"/>
            <a:ext cx="5074920" cy="1828800"/>
          </a:xfrm>
          <a:prstGeom prst="roundRect">
            <a:avLst>
              <a:gd name="adj" fmla="val 4000"/>
            </a:avLst>
          </a:prstGeom>
          <a:solidFill>
            <a:srgbClr val="26307A"/>
          </a:solidFill>
          <a:ln w="12700">
            <a:solidFill>
              <a:srgbClr val="39447A"/>
            </a:solidFill>
            <a:prstDash val="solid"/>
          </a:ln>
        </p:spPr>
      </p:sp>
      <p:sp>
        <p:nvSpPr>
          <p:cNvPr id="11" name="Shape 9"/>
          <p:cNvSpPr/>
          <p:nvPr/>
        </p:nvSpPr>
        <p:spPr>
          <a:xfrm>
            <a:off x="6199632" y="2679192"/>
            <a:ext cx="384048" cy="384048"/>
          </a:xfrm>
          <a:prstGeom prst="ellipse">
            <a:avLst/>
          </a:prstGeom>
          <a:solidFill>
            <a:srgbClr val="E4572E"/>
          </a:solidFill>
          <a:ln w="12700">
            <a:solidFill>
              <a:srgbClr val="E4572E"/>
            </a:solidFill>
            <a:prstDash val="solid"/>
          </a:ln>
        </p:spPr>
      </p:sp>
      <p:sp>
        <p:nvSpPr>
          <p:cNvPr id="12" name="Text 10"/>
          <p:cNvSpPr txBox="1"/>
          <p:nvPr/>
        </p:nvSpPr>
        <p:spPr>
          <a:xfrm>
            <a:off x="6199632" y="26791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6766560" y="2624328"/>
            <a:ext cx="402336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Statewide rollout</a:t>
            </a:r>
            <a:endParaRPr lang="en-US" sz="1450" dirty="0"/>
          </a:p>
        </p:txBody>
      </p:sp>
      <p:sp>
        <p:nvSpPr>
          <p:cNvPr id="14" name="Text 12"/>
          <p:cNvSpPr txBox="1"/>
          <p:nvPr/>
        </p:nvSpPr>
        <p:spPr>
          <a:xfrm>
            <a:off x="6199632" y="3200400"/>
            <a:ext cx="4562856" cy="914400"/>
          </a:xfrm>
          <a:prstGeom prst="rect">
            <a:avLst/>
          </a:prstGeom>
          <a:noFill/>
          <a:ln/>
        </p:spPr>
        <p:txBody>
          <a:bodyPr wrap="square" lIns="0" tIns="0" rIns="0" bIns="0" rtlCol="0" anchor="ctr"/>
          <a:lstStyle/>
          <a:p>
            <a:pPr indent="0" marL="0">
              <a:lnSpc>
                <a:spcPts val="1550"/>
              </a:lnSpc>
              <a:buNone/>
            </a:pPr>
            <a:r>
              <a:rPr lang="en-US" sz="1200" dirty="0">
                <a:solidFill>
                  <a:srgbClr val="C7CEE8"/>
                </a:solidFill>
                <a:latin typeface="Calibri" pitchFamily="34" charset="0"/>
                <a:ea typeface="Calibri" pitchFamily="34" charset="-122"/>
                <a:cs typeface="Calibri" pitchFamily="34" charset="-120"/>
              </a:rPr>
              <a:t>One tool shared across cyber cells, with case archives that reveal links between cases filed in different districts.</a:t>
            </a:r>
            <a:endParaRPr lang="en-US" sz="1200" dirty="0"/>
          </a:p>
        </p:txBody>
      </p:sp>
      <p:sp>
        <p:nvSpPr>
          <p:cNvPr id="15" name="Shape 13"/>
          <p:cNvSpPr/>
          <p:nvPr/>
        </p:nvSpPr>
        <p:spPr>
          <a:xfrm>
            <a:off x="548640" y="4480560"/>
            <a:ext cx="5074920" cy="1828800"/>
          </a:xfrm>
          <a:prstGeom prst="roundRect">
            <a:avLst>
              <a:gd name="adj" fmla="val 4000"/>
            </a:avLst>
          </a:prstGeom>
          <a:solidFill>
            <a:srgbClr val="26307A"/>
          </a:solidFill>
          <a:ln w="12700">
            <a:solidFill>
              <a:srgbClr val="39447A"/>
            </a:solidFill>
            <a:prstDash val="solid"/>
          </a:ln>
        </p:spPr>
      </p:sp>
      <p:sp>
        <p:nvSpPr>
          <p:cNvPr id="16" name="Shape 14"/>
          <p:cNvSpPr/>
          <p:nvPr/>
        </p:nvSpPr>
        <p:spPr>
          <a:xfrm>
            <a:off x="804672" y="4736592"/>
            <a:ext cx="384048" cy="384048"/>
          </a:xfrm>
          <a:prstGeom prst="ellipse">
            <a:avLst/>
          </a:prstGeom>
          <a:solidFill>
            <a:srgbClr val="E4572E"/>
          </a:solidFill>
          <a:ln w="12700">
            <a:solidFill>
              <a:srgbClr val="E4572E"/>
            </a:solidFill>
            <a:prstDash val="solid"/>
          </a:ln>
        </p:spPr>
      </p:sp>
      <p:sp>
        <p:nvSpPr>
          <p:cNvPr id="17" name="Text 15"/>
          <p:cNvSpPr txBox="1"/>
          <p:nvPr/>
        </p:nvSpPr>
        <p:spPr>
          <a:xfrm>
            <a:off x="804672" y="47365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1371600" y="4681728"/>
            <a:ext cx="402336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On-prem IBM Bob</a:t>
            </a:r>
            <a:endParaRPr lang="en-US" sz="1450" dirty="0"/>
          </a:p>
        </p:txBody>
      </p:sp>
      <p:sp>
        <p:nvSpPr>
          <p:cNvPr id="19" name="Text 17"/>
          <p:cNvSpPr txBox="1"/>
          <p:nvPr/>
        </p:nvSpPr>
        <p:spPr>
          <a:xfrm>
            <a:off x="804672" y="5257800"/>
            <a:ext cx="4562856" cy="914400"/>
          </a:xfrm>
          <a:prstGeom prst="rect">
            <a:avLst/>
          </a:prstGeom>
          <a:noFill/>
          <a:ln/>
        </p:spPr>
        <p:txBody>
          <a:bodyPr wrap="square" lIns="0" tIns="0" rIns="0" bIns="0" rtlCol="0" anchor="ctr"/>
          <a:lstStyle/>
          <a:p>
            <a:pPr indent="0" marL="0">
              <a:lnSpc>
                <a:spcPts val="1550"/>
              </a:lnSpc>
              <a:buNone/>
            </a:pPr>
            <a:r>
              <a:rPr lang="en-US" sz="1200" dirty="0">
                <a:solidFill>
                  <a:srgbClr val="C7CEE8"/>
                </a:solidFill>
                <a:latin typeface="Calibri" pitchFamily="34" charset="0"/>
                <a:ea typeface="Calibri" pitchFamily="34" charset="-122"/>
                <a:cs typeface="Calibri" pitchFamily="34" charset="-120"/>
              </a:rPr>
              <a:t>Deploy the AI extraction path inside government infrastructure for full DPDP Act compliance at scale.</a:t>
            </a:r>
            <a:endParaRPr lang="en-US" sz="1200" dirty="0"/>
          </a:p>
        </p:txBody>
      </p:sp>
      <p:sp>
        <p:nvSpPr>
          <p:cNvPr id="20" name="Shape 18"/>
          <p:cNvSpPr/>
          <p:nvPr/>
        </p:nvSpPr>
        <p:spPr>
          <a:xfrm>
            <a:off x="5943600" y="4480560"/>
            <a:ext cx="5074920" cy="1828800"/>
          </a:xfrm>
          <a:prstGeom prst="roundRect">
            <a:avLst>
              <a:gd name="adj" fmla="val 4000"/>
            </a:avLst>
          </a:prstGeom>
          <a:solidFill>
            <a:srgbClr val="26307A"/>
          </a:solidFill>
          <a:ln w="12700">
            <a:solidFill>
              <a:srgbClr val="39447A"/>
            </a:solidFill>
            <a:prstDash val="solid"/>
          </a:ln>
        </p:spPr>
      </p:sp>
      <p:sp>
        <p:nvSpPr>
          <p:cNvPr id="21" name="Shape 19"/>
          <p:cNvSpPr/>
          <p:nvPr/>
        </p:nvSpPr>
        <p:spPr>
          <a:xfrm>
            <a:off x="6199632" y="4736592"/>
            <a:ext cx="384048" cy="384048"/>
          </a:xfrm>
          <a:prstGeom prst="ellipse">
            <a:avLst/>
          </a:prstGeom>
          <a:solidFill>
            <a:srgbClr val="E4572E"/>
          </a:solidFill>
          <a:ln w="12700">
            <a:solidFill>
              <a:srgbClr val="E4572E"/>
            </a:solidFill>
            <a:prstDash val="solid"/>
          </a:ln>
        </p:spPr>
      </p:sp>
      <p:sp>
        <p:nvSpPr>
          <p:cNvPr id="22" name="Text 20"/>
          <p:cNvSpPr txBox="1"/>
          <p:nvPr/>
        </p:nvSpPr>
        <p:spPr>
          <a:xfrm>
            <a:off x="6199632" y="47365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6766560" y="4681728"/>
            <a:ext cx="402336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Wider fraud coverage</a:t>
            </a:r>
            <a:endParaRPr lang="en-US" sz="1450" dirty="0"/>
          </a:p>
        </p:txBody>
      </p:sp>
      <p:sp>
        <p:nvSpPr>
          <p:cNvPr id="24" name="Text 22"/>
          <p:cNvSpPr txBox="1"/>
          <p:nvPr/>
        </p:nvSpPr>
        <p:spPr>
          <a:xfrm>
            <a:off x="6199632" y="5257800"/>
            <a:ext cx="4562856" cy="914400"/>
          </a:xfrm>
          <a:prstGeom prst="rect">
            <a:avLst/>
          </a:prstGeom>
          <a:noFill/>
          <a:ln/>
        </p:spPr>
        <p:txBody>
          <a:bodyPr wrap="square" lIns="0" tIns="0" rIns="0" bIns="0" rtlCol="0" anchor="ctr"/>
          <a:lstStyle/>
          <a:p>
            <a:pPr indent="0" marL="0">
              <a:lnSpc>
                <a:spcPts val="1550"/>
              </a:lnSpc>
              <a:buNone/>
            </a:pPr>
            <a:r>
              <a:rPr lang="en-US" sz="1200" dirty="0">
                <a:solidFill>
                  <a:srgbClr val="C7CEE8"/>
                </a:solidFill>
                <a:latin typeface="Calibri" pitchFamily="34" charset="0"/>
                <a:ea typeface="Calibri" pitchFamily="34" charset="-122"/>
                <a:cs typeface="Calibri" pitchFamily="34" charset="-120"/>
              </a:rPr>
              <a:t>Extend pattern detection beyond SIM-swap and UPI mules to loan-app fraud, phishing rings and investment scams.</a:t>
            </a:r>
            <a:endParaRPr lang="en-US" sz="1200" dirty="0"/>
          </a:p>
        </p:txBody>
      </p:sp>
      <p:sp>
        <p:nvSpPr>
          <p:cNvPr id="25" name="Text 23"/>
          <p:cNvSpPr txBox="1"/>
          <p:nvPr/>
        </p:nvSpPr>
        <p:spPr>
          <a:xfrm>
            <a:off x="548640" y="6400800"/>
            <a:ext cx="5486400" cy="320040"/>
          </a:xfrm>
          <a:prstGeom prst="rect">
            <a:avLst/>
          </a:prstGeom>
          <a:noFill/>
          <a:ln/>
        </p:spPr>
        <p:txBody>
          <a:bodyPr wrap="square" lIns="0" tIns="0" rIns="0" bIns="0" rtlCol="0" anchor="ctr"/>
          <a:lstStyle/>
          <a:p>
            <a:pPr algn="l" indent="0" marL="0">
              <a:buNone/>
            </a:pPr>
            <a:r>
              <a:rPr lang="en-US" sz="1000" dirty="0">
                <a:solidFill>
                  <a:srgbClr val="8891B5"/>
                </a:solidFill>
                <a:latin typeface="Calibri" pitchFamily="34" charset="0"/>
                <a:ea typeface="Calibri" pitchFamily="34" charset="-122"/>
                <a:cs typeface="Calibri" pitchFamily="34" charset="-120"/>
              </a:rPr>
              <a:t>ChakraView  •  IBM x NFSU Hackathon</a:t>
            </a:r>
            <a:endParaRPr lang="en-US" sz="1000" dirty="0"/>
          </a:p>
        </p:txBody>
      </p:sp>
      <p:sp>
        <p:nvSpPr>
          <p:cNvPr id="26" name="Text 24"/>
          <p:cNvSpPr txBox="1"/>
          <p:nvPr/>
        </p:nvSpPr>
        <p:spPr>
          <a:xfrm>
            <a:off x="11365992" y="6400800"/>
            <a:ext cx="548640" cy="320040"/>
          </a:xfrm>
          <a:prstGeom prst="rect">
            <a:avLst/>
          </a:prstGeom>
          <a:noFill/>
          <a:ln/>
        </p:spPr>
        <p:txBody>
          <a:bodyPr wrap="square" lIns="0" tIns="0" rIns="0" bIns="0" rtlCol="0" anchor="ctr"/>
          <a:lstStyle/>
          <a:p>
            <a:pPr algn="r" indent="0" marL="0">
              <a:buNone/>
            </a:pPr>
            <a:r>
              <a:rPr lang="en-US" sz="1000" dirty="0">
                <a:solidFill>
                  <a:srgbClr val="8891B5"/>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2026-09-28T05:13:27Z</dcterms:created>
  <dcterms:modified xsi:type="dcterms:W3CDTF">2026-09-28T05:13:27Z</dcterms:modified>
</cp:coreProperties>
</file>